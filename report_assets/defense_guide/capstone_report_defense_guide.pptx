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1492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85800" y="960120"/>
            <a:ext cx="7315200" cy="132588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Writing and Defending</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a Strong ML Capstone Report</a:t>
            </a:r>
            <a:endParaRPr lang="en-US" sz="3400" dirty="0"/>
          </a:p>
        </p:txBody>
      </p:sp>
      <p:sp>
        <p:nvSpPr>
          <p:cNvPr id="3" name="Text 1"/>
          <p:cNvSpPr/>
          <p:nvPr/>
        </p:nvSpPr>
        <p:spPr>
          <a:xfrm>
            <a:off x="731520" y="2496312"/>
            <a:ext cx="7680960" cy="411480"/>
          </a:xfrm>
          <a:prstGeom prst="rect">
            <a:avLst/>
          </a:prstGeom>
          <a:noFill/>
          <a:ln/>
        </p:spPr>
        <p:txBody>
          <a:bodyPr wrap="square" lIns="0" tIns="0" rIns="0" bIns="0" rtlCol="0" anchor="ctr">
            <a:normAutofit/>
          </a:bodyPr>
          <a:lstStyle/>
          <a:p>
            <a:pPr marL="0" indent="0">
              <a:buNone/>
            </a:pPr>
            <a:r>
              <a:rPr lang="en-US" sz="1600" dirty="0">
                <a:solidFill>
                  <a:srgbClr val="CBD5E1"/>
                </a:solidFill>
              </a:rPr>
              <a:t>A practical guide to Chapters 1 to 5, expected evidence, and defense preparation</a:t>
            </a:r>
            <a:endParaRPr lang="en-US" sz="1600" dirty="0"/>
          </a:p>
        </p:txBody>
      </p:sp>
      <p:sp>
        <p:nvSpPr>
          <p:cNvPr id="4" name="Text 2"/>
          <p:cNvSpPr/>
          <p:nvPr/>
        </p:nvSpPr>
        <p:spPr>
          <a:xfrm>
            <a:off x="731520" y="3794760"/>
            <a:ext cx="1463040" cy="512064"/>
          </a:xfrm>
          <a:prstGeom prst="roundRect">
            <a:avLst/>
          </a:prstGeom>
          <a:solidFill>
            <a:srgbClr val="DBEAFE"/>
          </a:solidFill>
          <a:ln>
            <a:solidFill>
              <a:srgbClr val="DBEAFE"/>
            </a:solidFill>
          </a:ln>
        </p:spPr>
        <p:txBody>
          <a:bodyPr wrap="square" lIns="889" tIns="889" rIns="889" bIns="889" rtlCol="0" anchor="ctr"/>
          <a:lstStyle/>
          <a:p>
            <a:pPr marL="0" indent="0" algn="ctr">
              <a:buNone/>
            </a:pPr>
            <a:r>
              <a:rPr lang="en-US" sz="1200" b="1" dirty="0">
                <a:solidFill>
                  <a:srgbClr val="0F172A"/>
                </a:solidFill>
              </a:rPr>
              <a:t>Problem</a:t>
            </a:r>
            <a:endParaRPr lang="en-US" sz="1200" dirty="0"/>
          </a:p>
        </p:txBody>
      </p:sp>
      <p:sp>
        <p:nvSpPr>
          <p:cNvPr id="5" name="Text 3"/>
          <p:cNvSpPr/>
          <p:nvPr/>
        </p:nvSpPr>
        <p:spPr>
          <a:xfrm>
            <a:off x="2240280" y="3867912"/>
            <a:ext cx="320040" cy="274320"/>
          </a:xfrm>
          <a:prstGeom prst="rect">
            <a:avLst/>
          </a:prstGeom>
          <a:noFill/>
          <a:ln/>
        </p:spPr>
        <p:txBody>
          <a:bodyPr wrap="square" lIns="0" tIns="0" rIns="0" bIns="0" rtlCol="0" anchor="ctr"/>
          <a:lstStyle/>
          <a:p>
            <a:pPr marL="0" indent="0" algn="ctr">
              <a:buNone/>
            </a:pPr>
            <a:r>
              <a:rPr lang="en-US" sz="2000" b="1" dirty="0">
                <a:solidFill>
                  <a:srgbClr val="CBD5E1"/>
                </a:solidFill>
              </a:rPr>
              <a:t>→</a:t>
            </a:r>
            <a:endParaRPr lang="en-US" sz="2000" dirty="0"/>
          </a:p>
        </p:txBody>
      </p:sp>
      <p:sp>
        <p:nvSpPr>
          <p:cNvPr id="6" name="Text 4"/>
          <p:cNvSpPr/>
          <p:nvPr/>
        </p:nvSpPr>
        <p:spPr>
          <a:xfrm>
            <a:off x="2560320" y="3794760"/>
            <a:ext cx="1463040" cy="512064"/>
          </a:xfrm>
          <a:prstGeom prst="roundRect">
            <a:avLst/>
          </a:prstGeom>
          <a:solidFill>
            <a:srgbClr val="DCFCE7"/>
          </a:solidFill>
          <a:ln>
            <a:solidFill>
              <a:srgbClr val="DCFCE7"/>
            </a:solidFill>
          </a:ln>
        </p:spPr>
        <p:txBody>
          <a:bodyPr wrap="square" lIns="889" tIns="889" rIns="889" bIns="889" rtlCol="0" anchor="ctr"/>
          <a:lstStyle/>
          <a:p>
            <a:pPr marL="0" indent="0" algn="ctr">
              <a:buNone/>
            </a:pPr>
            <a:r>
              <a:rPr lang="en-US" sz="1200" b="1" dirty="0">
                <a:solidFill>
                  <a:srgbClr val="0F172A"/>
                </a:solidFill>
              </a:rPr>
              <a:t>Data</a:t>
            </a:r>
            <a:endParaRPr lang="en-US" sz="1200" dirty="0"/>
          </a:p>
        </p:txBody>
      </p:sp>
      <p:sp>
        <p:nvSpPr>
          <p:cNvPr id="7" name="Text 5"/>
          <p:cNvSpPr/>
          <p:nvPr/>
        </p:nvSpPr>
        <p:spPr>
          <a:xfrm>
            <a:off x="4069080" y="3867912"/>
            <a:ext cx="320040" cy="274320"/>
          </a:xfrm>
          <a:prstGeom prst="rect">
            <a:avLst/>
          </a:prstGeom>
          <a:noFill/>
          <a:ln/>
        </p:spPr>
        <p:txBody>
          <a:bodyPr wrap="square" lIns="0" tIns="0" rIns="0" bIns="0" rtlCol="0" anchor="ctr"/>
          <a:lstStyle/>
          <a:p>
            <a:pPr marL="0" indent="0" algn="ctr">
              <a:buNone/>
            </a:pPr>
            <a:r>
              <a:rPr lang="en-US" sz="2000" b="1" dirty="0">
                <a:solidFill>
                  <a:srgbClr val="CBD5E1"/>
                </a:solidFill>
              </a:rPr>
              <a:t>→</a:t>
            </a:r>
            <a:endParaRPr lang="en-US" sz="2000" dirty="0"/>
          </a:p>
        </p:txBody>
      </p:sp>
      <p:sp>
        <p:nvSpPr>
          <p:cNvPr id="8" name="Text 6"/>
          <p:cNvSpPr/>
          <p:nvPr/>
        </p:nvSpPr>
        <p:spPr>
          <a:xfrm>
            <a:off x="4389120" y="3794760"/>
            <a:ext cx="1463040" cy="512064"/>
          </a:xfrm>
          <a:prstGeom prst="roundRect">
            <a:avLst/>
          </a:prstGeom>
          <a:solidFill>
            <a:srgbClr val="EDE9FE"/>
          </a:solidFill>
          <a:ln>
            <a:solidFill>
              <a:srgbClr val="EDE9FE"/>
            </a:solidFill>
          </a:ln>
        </p:spPr>
        <p:txBody>
          <a:bodyPr wrap="square" lIns="889" tIns="889" rIns="889" bIns="889" rtlCol="0" anchor="ctr"/>
          <a:lstStyle/>
          <a:p>
            <a:pPr marL="0" indent="0" algn="ctr">
              <a:buNone/>
            </a:pPr>
            <a:r>
              <a:rPr lang="en-US" sz="1200" b="1" dirty="0">
                <a:solidFill>
                  <a:srgbClr val="0F172A"/>
                </a:solidFill>
              </a:rPr>
              <a:t>Model</a:t>
            </a:r>
            <a:endParaRPr lang="en-US" sz="1200" dirty="0"/>
          </a:p>
        </p:txBody>
      </p:sp>
      <p:sp>
        <p:nvSpPr>
          <p:cNvPr id="9" name="Text 7"/>
          <p:cNvSpPr/>
          <p:nvPr/>
        </p:nvSpPr>
        <p:spPr>
          <a:xfrm>
            <a:off x="5897880" y="3867912"/>
            <a:ext cx="320040" cy="274320"/>
          </a:xfrm>
          <a:prstGeom prst="rect">
            <a:avLst/>
          </a:prstGeom>
          <a:noFill/>
          <a:ln/>
        </p:spPr>
        <p:txBody>
          <a:bodyPr wrap="square" lIns="0" tIns="0" rIns="0" bIns="0" rtlCol="0" anchor="ctr"/>
          <a:lstStyle/>
          <a:p>
            <a:pPr marL="0" indent="0" algn="ctr">
              <a:buNone/>
            </a:pPr>
            <a:r>
              <a:rPr lang="en-US" sz="2000" b="1" dirty="0">
                <a:solidFill>
                  <a:srgbClr val="CBD5E1"/>
                </a:solidFill>
              </a:rPr>
              <a:t>→</a:t>
            </a:r>
            <a:endParaRPr lang="en-US" sz="2000" dirty="0"/>
          </a:p>
        </p:txBody>
      </p:sp>
      <p:sp>
        <p:nvSpPr>
          <p:cNvPr id="10" name="Text 8"/>
          <p:cNvSpPr/>
          <p:nvPr/>
        </p:nvSpPr>
        <p:spPr>
          <a:xfrm>
            <a:off x="6217920" y="3794760"/>
            <a:ext cx="1463040" cy="512064"/>
          </a:xfrm>
          <a:prstGeom prst="roundRect">
            <a:avLst/>
          </a:prstGeom>
          <a:solidFill>
            <a:srgbClr val="FEF3C7"/>
          </a:solidFill>
          <a:ln>
            <a:solidFill>
              <a:srgbClr val="FEF3C7"/>
            </a:solidFill>
          </a:ln>
        </p:spPr>
        <p:txBody>
          <a:bodyPr wrap="square" lIns="889" tIns="889" rIns="889" bIns="889" rtlCol="0" anchor="ctr"/>
          <a:lstStyle/>
          <a:p>
            <a:pPr marL="0" indent="0" algn="ctr">
              <a:buNone/>
            </a:pPr>
            <a:r>
              <a:rPr lang="en-US" sz="1200" b="1" dirty="0">
                <a:solidFill>
                  <a:srgbClr val="0F172A"/>
                </a:solidFill>
              </a:rPr>
              <a:t>Results</a:t>
            </a:r>
            <a:endParaRPr lang="en-US" sz="1200" dirty="0"/>
          </a:p>
        </p:txBody>
      </p:sp>
      <p:sp>
        <p:nvSpPr>
          <p:cNvPr id="11" name="Text 9"/>
          <p:cNvSpPr/>
          <p:nvPr/>
        </p:nvSpPr>
        <p:spPr>
          <a:xfrm>
            <a:off x="7726680" y="3867912"/>
            <a:ext cx="320040" cy="274320"/>
          </a:xfrm>
          <a:prstGeom prst="rect">
            <a:avLst/>
          </a:prstGeom>
          <a:noFill/>
          <a:ln/>
        </p:spPr>
        <p:txBody>
          <a:bodyPr wrap="square" lIns="0" tIns="0" rIns="0" bIns="0" rtlCol="0" anchor="ctr"/>
          <a:lstStyle/>
          <a:p>
            <a:pPr marL="0" indent="0" algn="ctr">
              <a:buNone/>
            </a:pPr>
            <a:r>
              <a:rPr lang="en-US" sz="2000" b="1" dirty="0">
                <a:solidFill>
                  <a:srgbClr val="CBD5E1"/>
                </a:solidFill>
              </a:rPr>
              <a:t>→</a:t>
            </a:r>
            <a:endParaRPr lang="en-US" sz="2000" dirty="0"/>
          </a:p>
        </p:txBody>
      </p:sp>
      <p:sp>
        <p:nvSpPr>
          <p:cNvPr id="12" name="Text 10"/>
          <p:cNvSpPr/>
          <p:nvPr/>
        </p:nvSpPr>
        <p:spPr>
          <a:xfrm>
            <a:off x="8046720" y="3794760"/>
            <a:ext cx="1463040" cy="512064"/>
          </a:xfrm>
          <a:prstGeom prst="roundRect">
            <a:avLst/>
          </a:prstGeom>
          <a:solidFill>
            <a:srgbClr val="FEE2E2"/>
          </a:solidFill>
          <a:ln>
            <a:solidFill>
              <a:srgbClr val="FEE2E2"/>
            </a:solidFill>
          </a:ln>
        </p:spPr>
        <p:txBody>
          <a:bodyPr wrap="square" lIns="889" tIns="889" rIns="889" bIns="889" rtlCol="0" anchor="ctr"/>
          <a:lstStyle/>
          <a:p>
            <a:pPr marL="0" indent="0" algn="ctr">
              <a:buNone/>
            </a:pPr>
            <a:r>
              <a:rPr lang="en-US" sz="1200" b="1" dirty="0">
                <a:solidFill>
                  <a:srgbClr val="DC2626"/>
                </a:solidFill>
              </a:rPr>
              <a:t>Defense</a:t>
            </a:r>
            <a:endParaRPr lang="en-US" sz="1200" dirty="0"/>
          </a:p>
        </p:txBody>
      </p:sp>
      <p:sp>
        <p:nvSpPr>
          <p:cNvPr id="13" name="Text 11"/>
          <p:cNvSpPr/>
          <p:nvPr/>
        </p:nvSpPr>
        <p:spPr>
          <a:xfrm>
            <a:off x="731520" y="6126480"/>
            <a:ext cx="2926080" cy="274320"/>
          </a:xfrm>
          <a:prstGeom prst="rect">
            <a:avLst/>
          </a:prstGeom>
          <a:noFill/>
          <a:ln/>
        </p:spPr>
        <p:txBody>
          <a:bodyPr wrap="square" lIns="0" tIns="0" rIns="0" bIns="0" rtlCol="0" anchor="ctr"/>
          <a:lstStyle/>
          <a:p>
            <a:pPr marL="0" indent="0">
              <a:buNone/>
            </a:pPr>
            <a:r>
              <a:rPr lang="en-US" sz="1100" dirty="0">
                <a:solidFill>
                  <a:srgbClr val="94A3B8"/>
                </a:solidFill>
              </a:rPr>
              <a:t>For ML track students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What your capstone report must prove</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The report should show evidence, not promises.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731520" y="1600200"/>
            <a:ext cx="438912" cy="438912"/>
          </a:xfrm>
          <a:prstGeom prst="ellipse">
            <a:avLst/>
          </a:prstGeom>
          <a:solidFill>
            <a:srgbClr val="DBEAFE"/>
          </a:solidFill>
          <a:ln>
            <a:solidFill>
              <a:srgbClr val="DBEAFE"/>
            </a:solidFill>
          </a:ln>
        </p:spPr>
        <p:txBody>
          <a:bodyPr wrap="square" lIns="0" tIns="0" rIns="0" bIns="0" rtlCol="0" anchor="ctr"/>
          <a:lstStyle/>
          <a:p>
            <a:pPr marL="0" indent="0" algn="ctr">
              <a:buNone/>
            </a:pPr>
            <a:r>
              <a:rPr lang="en-US" sz="1600" b="1" dirty="0">
                <a:solidFill>
                  <a:srgbClr val="0F172A"/>
                </a:solidFill>
              </a:rPr>
              <a:t>1</a:t>
            </a:r>
            <a:endParaRPr lang="en-US" sz="1600" dirty="0"/>
          </a:p>
        </p:txBody>
      </p:sp>
      <p:sp>
        <p:nvSpPr>
          <p:cNvPr id="6" name="Text 4"/>
          <p:cNvSpPr/>
          <p:nvPr/>
        </p:nvSpPr>
        <p:spPr>
          <a:xfrm>
            <a:off x="1325880" y="1581912"/>
            <a:ext cx="2926080" cy="256032"/>
          </a:xfrm>
          <a:prstGeom prst="rect">
            <a:avLst/>
          </a:prstGeom>
          <a:noFill/>
          <a:ln/>
        </p:spPr>
        <p:txBody>
          <a:bodyPr wrap="square" lIns="0" tIns="0" rIns="0" bIns="0" rtlCol="0" anchor="ctr"/>
          <a:lstStyle/>
          <a:p>
            <a:pPr marL="0" indent="0">
              <a:buNone/>
            </a:pPr>
            <a:r>
              <a:rPr lang="en-US" sz="1450" b="1" dirty="0">
                <a:solidFill>
                  <a:srgbClr val="0F172A"/>
                </a:solidFill>
              </a:rPr>
              <a:t>Real problem</a:t>
            </a:r>
            <a:endParaRPr lang="en-US" sz="1450" dirty="0"/>
          </a:p>
        </p:txBody>
      </p:sp>
      <p:sp>
        <p:nvSpPr>
          <p:cNvPr id="7" name="Text 5"/>
          <p:cNvSpPr/>
          <p:nvPr/>
        </p:nvSpPr>
        <p:spPr>
          <a:xfrm>
            <a:off x="1325880" y="1847088"/>
            <a:ext cx="5852160" cy="219456"/>
          </a:xfrm>
          <a:prstGeom prst="rect">
            <a:avLst/>
          </a:prstGeom>
          <a:noFill/>
          <a:ln/>
        </p:spPr>
        <p:txBody>
          <a:bodyPr wrap="square" lIns="0" tIns="0" rIns="0" bIns="0" rtlCol="0" anchor="ctr"/>
          <a:lstStyle/>
          <a:p>
            <a:pPr marL="0" indent="0">
              <a:buNone/>
            </a:pPr>
            <a:r>
              <a:rPr lang="en-US" sz="1150" dirty="0">
                <a:solidFill>
                  <a:srgbClr val="475569"/>
                </a:solidFill>
              </a:rPr>
              <a:t>What is wrong and who is affected?</a:t>
            </a:r>
            <a:endParaRPr lang="en-US" sz="1150" dirty="0"/>
          </a:p>
        </p:txBody>
      </p:sp>
      <p:sp>
        <p:nvSpPr>
          <p:cNvPr id="8" name="Text 6"/>
          <p:cNvSpPr/>
          <p:nvPr/>
        </p:nvSpPr>
        <p:spPr>
          <a:xfrm>
            <a:off x="731520" y="2377440"/>
            <a:ext cx="438912" cy="438912"/>
          </a:xfrm>
          <a:prstGeom prst="ellipse">
            <a:avLst/>
          </a:prstGeom>
          <a:solidFill>
            <a:srgbClr val="DCFCE7"/>
          </a:solidFill>
          <a:ln>
            <a:solidFill>
              <a:srgbClr val="DCFCE7"/>
            </a:solidFill>
          </a:ln>
        </p:spPr>
        <p:txBody>
          <a:bodyPr wrap="square" lIns="0" tIns="0" rIns="0" bIns="0" rtlCol="0" anchor="ctr"/>
          <a:lstStyle/>
          <a:p>
            <a:pPr marL="0" indent="0" algn="ctr">
              <a:buNone/>
            </a:pPr>
            <a:r>
              <a:rPr lang="en-US" sz="1600" b="1" dirty="0">
                <a:solidFill>
                  <a:srgbClr val="0F172A"/>
                </a:solidFill>
              </a:rPr>
              <a:t>2</a:t>
            </a:r>
            <a:endParaRPr lang="en-US" sz="1600" dirty="0"/>
          </a:p>
        </p:txBody>
      </p:sp>
      <p:sp>
        <p:nvSpPr>
          <p:cNvPr id="9" name="Text 7"/>
          <p:cNvSpPr/>
          <p:nvPr/>
        </p:nvSpPr>
        <p:spPr>
          <a:xfrm>
            <a:off x="1325880" y="2359152"/>
            <a:ext cx="2926080" cy="256032"/>
          </a:xfrm>
          <a:prstGeom prst="rect">
            <a:avLst/>
          </a:prstGeom>
          <a:noFill/>
          <a:ln/>
        </p:spPr>
        <p:txBody>
          <a:bodyPr wrap="square" lIns="0" tIns="0" rIns="0" bIns="0" rtlCol="0" anchor="ctr"/>
          <a:lstStyle/>
          <a:p>
            <a:pPr marL="0" indent="0">
              <a:buNone/>
            </a:pPr>
            <a:r>
              <a:rPr lang="en-US" sz="1450" b="1" dirty="0">
                <a:solidFill>
                  <a:srgbClr val="0F172A"/>
                </a:solidFill>
              </a:rPr>
              <a:t>Clear gap</a:t>
            </a:r>
            <a:endParaRPr lang="en-US" sz="1450" dirty="0"/>
          </a:p>
        </p:txBody>
      </p:sp>
      <p:sp>
        <p:nvSpPr>
          <p:cNvPr id="10" name="Text 8"/>
          <p:cNvSpPr/>
          <p:nvPr/>
        </p:nvSpPr>
        <p:spPr>
          <a:xfrm>
            <a:off x="1325880" y="2624328"/>
            <a:ext cx="5852160" cy="219456"/>
          </a:xfrm>
          <a:prstGeom prst="rect">
            <a:avLst/>
          </a:prstGeom>
          <a:noFill/>
          <a:ln/>
        </p:spPr>
        <p:txBody>
          <a:bodyPr wrap="square" lIns="0" tIns="0" rIns="0" bIns="0" rtlCol="0" anchor="ctr"/>
          <a:lstStyle/>
          <a:p>
            <a:pPr marL="0" indent="0">
              <a:buNone/>
            </a:pPr>
            <a:r>
              <a:rPr lang="en-US" sz="1150" dirty="0">
                <a:solidFill>
                  <a:srgbClr val="475569"/>
                </a:solidFill>
              </a:rPr>
              <a:t>What existing studies or tools have not solved?</a:t>
            </a:r>
            <a:endParaRPr lang="en-US" sz="1150" dirty="0"/>
          </a:p>
        </p:txBody>
      </p:sp>
      <p:sp>
        <p:nvSpPr>
          <p:cNvPr id="11" name="Text 9"/>
          <p:cNvSpPr/>
          <p:nvPr/>
        </p:nvSpPr>
        <p:spPr>
          <a:xfrm>
            <a:off x="731520" y="3154680"/>
            <a:ext cx="438912" cy="438912"/>
          </a:xfrm>
          <a:prstGeom prst="ellipse">
            <a:avLst/>
          </a:prstGeom>
          <a:solidFill>
            <a:srgbClr val="FEF3C7"/>
          </a:solidFill>
          <a:ln>
            <a:solidFill>
              <a:srgbClr val="FEF3C7"/>
            </a:solidFill>
          </a:ln>
        </p:spPr>
        <p:txBody>
          <a:bodyPr wrap="square" lIns="0" tIns="0" rIns="0" bIns="0" rtlCol="0" anchor="ctr"/>
          <a:lstStyle/>
          <a:p>
            <a:pPr marL="0" indent="0" algn="ctr">
              <a:buNone/>
            </a:pPr>
            <a:r>
              <a:rPr lang="en-US" sz="1600" b="1" dirty="0">
                <a:solidFill>
                  <a:srgbClr val="0F172A"/>
                </a:solidFill>
              </a:rPr>
              <a:t>3</a:t>
            </a:r>
            <a:endParaRPr lang="en-US" sz="1600" dirty="0"/>
          </a:p>
        </p:txBody>
      </p:sp>
      <p:sp>
        <p:nvSpPr>
          <p:cNvPr id="12" name="Text 10"/>
          <p:cNvSpPr/>
          <p:nvPr/>
        </p:nvSpPr>
        <p:spPr>
          <a:xfrm>
            <a:off x="1325880" y="3136392"/>
            <a:ext cx="2926080" cy="256032"/>
          </a:xfrm>
          <a:prstGeom prst="rect">
            <a:avLst/>
          </a:prstGeom>
          <a:noFill/>
          <a:ln/>
        </p:spPr>
        <p:txBody>
          <a:bodyPr wrap="square" lIns="0" tIns="0" rIns="0" bIns="0" rtlCol="0" anchor="ctr"/>
          <a:lstStyle/>
          <a:p>
            <a:pPr marL="0" indent="0">
              <a:buNone/>
            </a:pPr>
            <a:r>
              <a:rPr lang="en-US" sz="1450" b="1" dirty="0">
                <a:solidFill>
                  <a:srgbClr val="0F172A"/>
                </a:solidFill>
              </a:rPr>
              <a:t>Appropriate data</a:t>
            </a:r>
            <a:endParaRPr lang="en-US" sz="1450" dirty="0"/>
          </a:p>
        </p:txBody>
      </p:sp>
      <p:sp>
        <p:nvSpPr>
          <p:cNvPr id="13" name="Text 11"/>
          <p:cNvSpPr/>
          <p:nvPr/>
        </p:nvSpPr>
        <p:spPr>
          <a:xfrm>
            <a:off x="1325880" y="3401568"/>
            <a:ext cx="5852160" cy="219456"/>
          </a:xfrm>
          <a:prstGeom prst="rect">
            <a:avLst/>
          </a:prstGeom>
          <a:noFill/>
          <a:ln/>
        </p:spPr>
        <p:txBody>
          <a:bodyPr wrap="square" lIns="0" tIns="0" rIns="0" bIns="0" rtlCol="0" anchor="ctr"/>
          <a:lstStyle/>
          <a:p>
            <a:pPr marL="0" indent="0">
              <a:buNone/>
            </a:pPr>
            <a:r>
              <a:rPr lang="en-US" sz="1150" dirty="0">
                <a:solidFill>
                  <a:srgbClr val="475569"/>
                </a:solidFill>
              </a:rPr>
              <a:t>What data supports the ML task?</a:t>
            </a:r>
            <a:endParaRPr lang="en-US" sz="1150" dirty="0"/>
          </a:p>
        </p:txBody>
      </p:sp>
      <p:sp>
        <p:nvSpPr>
          <p:cNvPr id="14" name="Text 12"/>
          <p:cNvSpPr/>
          <p:nvPr/>
        </p:nvSpPr>
        <p:spPr>
          <a:xfrm>
            <a:off x="731520" y="3931920"/>
            <a:ext cx="438912" cy="438912"/>
          </a:xfrm>
          <a:prstGeom prst="ellipse">
            <a:avLst/>
          </a:prstGeom>
          <a:solidFill>
            <a:srgbClr val="EDE9FE"/>
          </a:solidFill>
          <a:ln>
            <a:solidFill>
              <a:srgbClr val="EDE9FE"/>
            </a:solidFill>
          </a:ln>
        </p:spPr>
        <p:txBody>
          <a:bodyPr wrap="square" lIns="0" tIns="0" rIns="0" bIns="0" rtlCol="0" anchor="ctr"/>
          <a:lstStyle/>
          <a:p>
            <a:pPr marL="0" indent="0" algn="ctr">
              <a:buNone/>
            </a:pPr>
            <a:r>
              <a:rPr lang="en-US" sz="1600" b="1" dirty="0">
                <a:solidFill>
                  <a:srgbClr val="0F172A"/>
                </a:solidFill>
              </a:rPr>
              <a:t>4</a:t>
            </a:r>
            <a:endParaRPr lang="en-US" sz="1600" dirty="0"/>
          </a:p>
        </p:txBody>
      </p:sp>
      <p:sp>
        <p:nvSpPr>
          <p:cNvPr id="15" name="Text 13"/>
          <p:cNvSpPr/>
          <p:nvPr/>
        </p:nvSpPr>
        <p:spPr>
          <a:xfrm>
            <a:off x="1325880" y="3913632"/>
            <a:ext cx="2926080" cy="256032"/>
          </a:xfrm>
          <a:prstGeom prst="rect">
            <a:avLst/>
          </a:prstGeom>
          <a:noFill/>
          <a:ln/>
        </p:spPr>
        <p:txBody>
          <a:bodyPr wrap="square" lIns="0" tIns="0" rIns="0" bIns="0" rtlCol="0" anchor="ctr"/>
          <a:lstStyle/>
          <a:p>
            <a:pPr marL="0" indent="0">
              <a:buNone/>
            </a:pPr>
            <a:r>
              <a:rPr lang="en-US" sz="1450" b="1" dirty="0">
                <a:solidFill>
                  <a:srgbClr val="0F172A"/>
                </a:solidFill>
              </a:rPr>
              <a:t>Evaluated model</a:t>
            </a:r>
            <a:endParaRPr lang="en-US" sz="1450" dirty="0"/>
          </a:p>
        </p:txBody>
      </p:sp>
      <p:sp>
        <p:nvSpPr>
          <p:cNvPr id="16" name="Text 14"/>
          <p:cNvSpPr/>
          <p:nvPr/>
        </p:nvSpPr>
        <p:spPr>
          <a:xfrm>
            <a:off x="1325880" y="4178808"/>
            <a:ext cx="5852160" cy="219456"/>
          </a:xfrm>
          <a:prstGeom prst="rect">
            <a:avLst/>
          </a:prstGeom>
          <a:noFill/>
          <a:ln/>
        </p:spPr>
        <p:txBody>
          <a:bodyPr wrap="square" lIns="0" tIns="0" rIns="0" bIns="0" rtlCol="0" anchor="ctr"/>
          <a:lstStyle/>
          <a:p>
            <a:pPr marL="0" indent="0">
              <a:buNone/>
            </a:pPr>
            <a:r>
              <a:rPr lang="en-US" sz="1150" dirty="0">
                <a:solidFill>
                  <a:srgbClr val="475569"/>
                </a:solidFill>
              </a:rPr>
              <a:t>What baseline, metrics, and results prove performance?</a:t>
            </a:r>
            <a:endParaRPr lang="en-US" sz="1150" dirty="0"/>
          </a:p>
        </p:txBody>
      </p:sp>
      <p:sp>
        <p:nvSpPr>
          <p:cNvPr id="17" name="Text 15"/>
          <p:cNvSpPr/>
          <p:nvPr/>
        </p:nvSpPr>
        <p:spPr>
          <a:xfrm>
            <a:off x="731520" y="4709160"/>
            <a:ext cx="438912" cy="438912"/>
          </a:xfrm>
          <a:prstGeom prst="ellipse">
            <a:avLst/>
          </a:prstGeom>
          <a:solidFill>
            <a:srgbClr val="FEE2E2"/>
          </a:solidFill>
          <a:ln>
            <a:solidFill>
              <a:srgbClr val="FEE2E2"/>
            </a:solidFill>
          </a:ln>
        </p:spPr>
        <p:txBody>
          <a:bodyPr wrap="square" lIns="0" tIns="0" rIns="0" bIns="0" rtlCol="0" anchor="ctr"/>
          <a:lstStyle/>
          <a:p>
            <a:pPr marL="0" indent="0" algn="ctr">
              <a:buNone/>
            </a:pPr>
            <a:r>
              <a:rPr lang="en-US" sz="1600" b="1" dirty="0">
                <a:solidFill>
                  <a:srgbClr val="0F172A"/>
                </a:solidFill>
              </a:rPr>
              <a:t>5</a:t>
            </a:r>
            <a:endParaRPr lang="en-US" sz="1600" dirty="0"/>
          </a:p>
        </p:txBody>
      </p:sp>
      <p:sp>
        <p:nvSpPr>
          <p:cNvPr id="18" name="Text 16"/>
          <p:cNvSpPr/>
          <p:nvPr/>
        </p:nvSpPr>
        <p:spPr>
          <a:xfrm>
            <a:off x="1325880" y="4690872"/>
            <a:ext cx="2926080" cy="256032"/>
          </a:xfrm>
          <a:prstGeom prst="rect">
            <a:avLst/>
          </a:prstGeom>
          <a:noFill/>
          <a:ln/>
        </p:spPr>
        <p:txBody>
          <a:bodyPr wrap="square" lIns="0" tIns="0" rIns="0" bIns="0" rtlCol="0" anchor="ctr"/>
          <a:lstStyle/>
          <a:p>
            <a:pPr marL="0" indent="0">
              <a:buNone/>
            </a:pPr>
            <a:r>
              <a:rPr lang="en-US" sz="1450" b="1" dirty="0">
                <a:solidFill>
                  <a:srgbClr val="0F172A"/>
                </a:solidFill>
              </a:rPr>
              <a:t>Honest limits</a:t>
            </a:r>
            <a:endParaRPr lang="en-US" sz="1450" dirty="0"/>
          </a:p>
        </p:txBody>
      </p:sp>
      <p:sp>
        <p:nvSpPr>
          <p:cNvPr id="19" name="Text 17"/>
          <p:cNvSpPr/>
          <p:nvPr/>
        </p:nvSpPr>
        <p:spPr>
          <a:xfrm>
            <a:off x="1325880" y="4956048"/>
            <a:ext cx="5852160" cy="219456"/>
          </a:xfrm>
          <a:prstGeom prst="rect">
            <a:avLst/>
          </a:prstGeom>
          <a:noFill/>
          <a:ln/>
        </p:spPr>
        <p:txBody>
          <a:bodyPr wrap="square" lIns="0" tIns="0" rIns="0" bIns="0" rtlCol="0" anchor="ctr"/>
          <a:lstStyle/>
          <a:p>
            <a:pPr marL="0" indent="0">
              <a:buNone/>
            </a:pPr>
            <a:r>
              <a:rPr lang="en-US" sz="1150" dirty="0">
                <a:solidFill>
                  <a:srgbClr val="475569"/>
                </a:solidFill>
              </a:rPr>
              <a:t>What can the prototype claim and not claim?</a:t>
            </a:r>
            <a:endParaRPr lang="en-US" sz="1150" dirty="0"/>
          </a:p>
        </p:txBody>
      </p:sp>
      <p:sp>
        <p:nvSpPr>
          <p:cNvPr id="20" name="Text 18"/>
          <p:cNvSpPr/>
          <p:nvPr/>
        </p:nvSpPr>
        <p:spPr>
          <a:xfrm>
            <a:off x="7818120" y="1828800"/>
            <a:ext cx="333756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Core message</a:t>
            </a:r>
            <a:endParaRPr lang="en-US" sz="1450" dirty="0"/>
          </a:p>
        </p:txBody>
      </p:sp>
      <p:sp>
        <p:nvSpPr>
          <p:cNvPr id="21" name="Text 19"/>
          <p:cNvSpPr/>
          <p:nvPr/>
        </p:nvSpPr>
        <p:spPr>
          <a:xfrm>
            <a:off x="7818120" y="2267712"/>
            <a:ext cx="3337560" cy="15270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A strong capstone is focused, data-driven, measurable, ethical, and defensible.</a:t>
            </a:r>
            <a:endParaRPr lang="en-US" sz="1160" dirty="0"/>
          </a:p>
        </p:txBody>
      </p:sp>
      <p:sp>
        <p:nvSpPr>
          <p:cNvPr id="22" name="Shape 20"/>
          <p:cNvSpPr/>
          <p:nvPr/>
        </p:nvSpPr>
        <p:spPr>
          <a:xfrm>
            <a:off x="7836408" y="2212848"/>
            <a:ext cx="3300984" cy="0"/>
          </a:xfrm>
          <a:prstGeom prst="line">
            <a:avLst/>
          </a:prstGeom>
          <a:noFill/>
          <a:ln w="27940">
            <a:solidFill>
              <a:srgbClr val="16A34A"/>
            </a:solidFill>
            <a:prstDash val="solid"/>
          </a:ln>
        </p:spPr>
        <p:txBody>
          <a:bodyPr/>
          <a:lstStyle/>
          <a:p>
            <a:endParaRPr lang="en-US"/>
          </a:p>
        </p:txBody>
      </p:sp>
      <p:sp>
        <p:nvSpPr>
          <p:cNvPr id="23" name="Text 2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What makes it an ML capstone</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The software is the delivery layer. The ML work must be visible and evaluated.</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548640" y="1874520"/>
            <a:ext cx="1508760" cy="502920"/>
          </a:xfrm>
          <a:prstGeom prst="roundRect">
            <a:avLst/>
          </a:prstGeom>
          <a:solidFill>
            <a:srgbClr val="DBEAFE"/>
          </a:solidFill>
          <a:ln>
            <a:solidFill>
              <a:srgbClr val="DBEAFE"/>
            </a:solidFill>
          </a:ln>
        </p:spPr>
        <p:txBody>
          <a:bodyPr wrap="square" lIns="508" tIns="508" rIns="508" bIns="508" rtlCol="0" anchor="ctr"/>
          <a:lstStyle/>
          <a:p>
            <a:pPr marL="0" indent="0" algn="ctr">
              <a:buNone/>
            </a:pPr>
            <a:r>
              <a:rPr lang="en-US" sz="1500" b="1" dirty="0">
                <a:solidFill>
                  <a:srgbClr val="0F172A"/>
                </a:solidFill>
              </a:rPr>
              <a:t>Data</a:t>
            </a:r>
            <a:endParaRPr lang="en-US" sz="1500" dirty="0"/>
          </a:p>
        </p:txBody>
      </p:sp>
      <p:sp>
        <p:nvSpPr>
          <p:cNvPr id="6" name="Text 4"/>
          <p:cNvSpPr/>
          <p:nvPr/>
        </p:nvSpPr>
        <p:spPr>
          <a:xfrm>
            <a:off x="54864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source, rows, features</a:t>
            </a:r>
            <a:endParaRPr lang="en-US" sz="950" dirty="0"/>
          </a:p>
        </p:txBody>
      </p:sp>
      <p:sp>
        <p:nvSpPr>
          <p:cNvPr id="7" name="Text 5"/>
          <p:cNvSpPr/>
          <p:nvPr/>
        </p:nvSpPr>
        <p:spPr>
          <a:xfrm>
            <a:off x="2103120" y="2011680"/>
            <a:ext cx="320040" cy="274320"/>
          </a:xfrm>
          <a:prstGeom prst="rect">
            <a:avLst/>
          </a:prstGeom>
          <a:noFill/>
          <a:ln/>
        </p:spPr>
        <p:txBody>
          <a:bodyPr wrap="square" lIns="0" tIns="0" rIns="0" bIns="0" rtlCol="0" anchor="ctr"/>
          <a:lstStyle/>
          <a:p>
            <a:pPr marL="0" indent="0" algn="ctr">
              <a:buNone/>
            </a:pPr>
            <a:r>
              <a:rPr lang="en-US" sz="1800" b="1" dirty="0">
                <a:solidFill>
                  <a:srgbClr val="475569"/>
                </a:solidFill>
              </a:rPr>
              <a:t>→</a:t>
            </a:r>
            <a:endParaRPr lang="en-US" sz="1800" dirty="0"/>
          </a:p>
        </p:txBody>
      </p:sp>
      <p:sp>
        <p:nvSpPr>
          <p:cNvPr id="8" name="Text 6"/>
          <p:cNvSpPr/>
          <p:nvPr/>
        </p:nvSpPr>
        <p:spPr>
          <a:xfrm>
            <a:off x="2423160" y="1874520"/>
            <a:ext cx="1508760" cy="502920"/>
          </a:xfrm>
          <a:prstGeom prst="roundRect">
            <a:avLst/>
          </a:prstGeom>
          <a:solidFill>
            <a:srgbClr val="DCFCE7"/>
          </a:solidFill>
          <a:ln>
            <a:solidFill>
              <a:srgbClr val="DCFCE7"/>
            </a:solidFill>
          </a:ln>
        </p:spPr>
        <p:txBody>
          <a:bodyPr wrap="square" lIns="508" tIns="508" rIns="508" bIns="508" rtlCol="0" anchor="ctr"/>
          <a:lstStyle/>
          <a:p>
            <a:pPr marL="0" indent="0" algn="ctr">
              <a:buNone/>
            </a:pPr>
            <a:r>
              <a:rPr lang="en-US" sz="1500" b="1" dirty="0">
                <a:solidFill>
                  <a:srgbClr val="0F172A"/>
                </a:solidFill>
              </a:rPr>
              <a:t>Target</a:t>
            </a:r>
            <a:endParaRPr lang="en-US" sz="1500" dirty="0"/>
          </a:p>
        </p:txBody>
      </p:sp>
      <p:sp>
        <p:nvSpPr>
          <p:cNvPr id="9" name="Text 7"/>
          <p:cNvSpPr/>
          <p:nvPr/>
        </p:nvSpPr>
        <p:spPr>
          <a:xfrm>
            <a:off x="242316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what is predicted</a:t>
            </a:r>
            <a:endParaRPr lang="en-US" sz="950" dirty="0"/>
          </a:p>
        </p:txBody>
      </p:sp>
      <p:sp>
        <p:nvSpPr>
          <p:cNvPr id="10" name="Text 8"/>
          <p:cNvSpPr/>
          <p:nvPr/>
        </p:nvSpPr>
        <p:spPr>
          <a:xfrm>
            <a:off x="3977640" y="2011680"/>
            <a:ext cx="320040" cy="274320"/>
          </a:xfrm>
          <a:prstGeom prst="rect">
            <a:avLst/>
          </a:prstGeom>
          <a:noFill/>
          <a:ln/>
        </p:spPr>
        <p:txBody>
          <a:bodyPr wrap="square" lIns="0" tIns="0" rIns="0" bIns="0" rtlCol="0" anchor="ctr"/>
          <a:lstStyle/>
          <a:p>
            <a:pPr marL="0" indent="0" algn="ctr">
              <a:buNone/>
            </a:pPr>
            <a:r>
              <a:rPr lang="en-US" sz="1800" b="1" dirty="0">
                <a:solidFill>
                  <a:srgbClr val="475569"/>
                </a:solidFill>
              </a:rPr>
              <a:t>→</a:t>
            </a:r>
            <a:endParaRPr lang="en-US" sz="1800" dirty="0"/>
          </a:p>
        </p:txBody>
      </p:sp>
      <p:sp>
        <p:nvSpPr>
          <p:cNvPr id="11" name="Text 9"/>
          <p:cNvSpPr/>
          <p:nvPr/>
        </p:nvSpPr>
        <p:spPr>
          <a:xfrm>
            <a:off x="4297680" y="1874520"/>
            <a:ext cx="1508760" cy="502920"/>
          </a:xfrm>
          <a:prstGeom prst="roundRect">
            <a:avLst/>
          </a:prstGeom>
          <a:solidFill>
            <a:srgbClr val="FEF3C7"/>
          </a:solidFill>
          <a:ln>
            <a:solidFill>
              <a:srgbClr val="FEF3C7"/>
            </a:solidFill>
          </a:ln>
        </p:spPr>
        <p:txBody>
          <a:bodyPr wrap="square" lIns="508" tIns="508" rIns="508" bIns="508" rtlCol="0" anchor="ctr"/>
          <a:lstStyle/>
          <a:p>
            <a:pPr marL="0" indent="0" algn="ctr">
              <a:buNone/>
            </a:pPr>
            <a:r>
              <a:rPr lang="en-US" sz="1500" b="1" dirty="0">
                <a:solidFill>
                  <a:srgbClr val="0F172A"/>
                </a:solidFill>
              </a:rPr>
              <a:t>Features</a:t>
            </a:r>
            <a:endParaRPr lang="en-US" sz="1500" dirty="0"/>
          </a:p>
        </p:txBody>
      </p:sp>
      <p:sp>
        <p:nvSpPr>
          <p:cNvPr id="12" name="Text 10"/>
          <p:cNvSpPr/>
          <p:nvPr/>
        </p:nvSpPr>
        <p:spPr>
          <a:xfrm>
            <a:off x="429768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how raw data becomes input</a:t>
            </a:r>
            <a:endParaRPr lang="en-US" sz="950" dirty="0"/>
          </a:p>
        </p:txBody>
      </p:sp>
      <p:sp>
        <p:nvSpPr>
          <p:cNvPr id="13" name="Text 11"/>
          <p:cNvSpPr/>
          <p:nvPr/>
        </p:nvSpPr>
        <p:spPr>
          <a:xfrm>
            <a:off x="5852160" y="2011680"/>
            <a:ext cx="320040" cy="274320"/>
          </a:xfrm>
          <a:prstGeom prst="rect">
            <a:avLst/>
          </a:prstGeom>
          <a:noFill/>
          <a:ln/>
        </p:spPr>
        <p:txBody>
          <a:bodyPr wrap="square" lIns="0" tIns="0" rIns="0" bIns="0" rtlCol="0" anchor="ctr"/>
          <a:lstStyle/>
          <a:p>
            <a:pPr marL="0" indent="0" algn="ctr">
              <a:buNone/>
            </a:pPr>
            <a:r>
              <a:rPr lang="en-US" sz="1800" b="1" dirty="0">
                <a:solidFill>
                  <a:srgbClr val="475569"/>
                </a:solidFill>
              </a:rPr>
              <a:t>→</a:t>
            </a:r>
            <a:endParaRPr lang="en-US" sz="1800" dirty="0"/>
          </a:p>
        </p:txBody>
      </p:sp>
      <p:sp>
        <p:nvSpPr>
          <p:cNvPr id="14" name="Text 12"/>
          <p:cNvSpPr/>
          <p:nvPr/>
        </p:nvSpPr>
        <p:spPr>
          <a:xfrm>
            <a:off x="6172200" y="1874520"/>
            <a:ext cx="1508760" cy="502920"/>
          </a:xfrm>
          <a:prstGeom prst="roundRect">
            <a:avLst/>
          </a:prstGeom>
          <a:solidFill>
            <a:srgbClr val="EDE9FE"/>
          </a:solidFill>
          <a:ln>
            <a:solidFill>
              <a:srgbClr val="EDE9FE"/>
            </a:solidFill>
          </a:ln>
        </p:spPr>
        <p:txBody>
          <a:bodyPr wrap="square" lIns="508" tIns="508" rIns="508" bIns="508" rtlCol="0" anchor="ctr"/>
          <a:lstStyle/>
          <a:p>
            <a:pPr marL="0" indent="0" algn="ctr">
              <a:buNone/>
            </a:pPr>
            <a:r>
              <a:rPr lang="en-US" sz="1500" b="1" dirty="0">
                <a:solidFill>
                  <a:srgbClr val="0F172A"/>
                </a:solidFill>
              </a:rPr>
              <a:t>Models</a:t>
            </a:r>
            <a:endParaRPr lang="en-US" sz="1500" dirty="0"/>
          </a:p>
        </p:txBody>
      </p:sp>
      <p:sp>
        <p:nvSpPr>
          <p:cNvPr id="15" name="Text 13"/>
          <p:cNvSpPr/>
          <p:nvPr/>
        </p:nvSpPr>
        <p:spPr>
          <a:xfrm>
            <a:off x="617220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baseline plus ML</a:t>
            </a:r>
            <a:endParaRPr lang="en-US" sz="950" dirty="0"/>
          </a:p>
        </p:txBody>
      </p:sp>
      <p:sp>
        <p:nvSpPr>
          <p:cNvPr id="16" name="Text 14"/>
          <p:cNvSpPr/>
          <p:nvPr/>
        </p:nvSpPr>
        <p:spPr>
          <a:xfrm>
            <a:off x="7726680" y="2011680"/>
            <a:ext cx="320040" cy="274320"/>
          </a:xfrm>
          <a:prstGeom prst="rect">
            <a:avLst/>
          </a:prstGeom>
          <a:noFill/>
          <a:ln/>
        </p:spPr>
        <p:txBody>
          <a:bodyPr wrap="square" lIns="0" tIns="0" rIns="0" bIns="0" rtlCol="0" anchor="ctr"/>
          <a:lstStyle/>
          <a:p>
            <a:pPr marL="0" indent="0" algn="ctr">
              <a:buNone/>
            </a:pPr>
            <a:r>
              <a:rPr lang="en-US" sz="1800" b="1" dirty="0">
                <a:solidFill>
                  <a:srgbClr val="475569"/>
                </a:solidFill>
              </a:rPr>
              <a:t>→</a:t>
            </a:r>
            <a:endParaRPr lang="en-US" sz="1800" dirty="0"/>
          </a:p>
        </p:txBody>
      </p:sp>
      <p:sp>
        <p:nvSpPr>
          <p:cNvPr id="17" name="Text 15"/>
          <p:cNvSpPr/>
          <p:nvPr/>
        </p:nvSpPr>
        <p:spPr>
          <a:xfrm>
            <a:off x="8046720" y="1874520"/>
            <a:ext cx="1508760" cy="502920"/>
          </a:xfrm>
          <a:prstGeom prst="roundRect">
            <a:avLst/>
          </a:prstGeom>
          <a:solidFill>
            <a:srgbClr val="FEE2E2"/>
          </a:solidFill>
          <a:ln>
            <a:solidFill>
              <a:srgbClr val="FEE2E2"/>
            </a:solidFill>
          </a:ln>
        </p:spPr>
        <p:txBody>
          <a:bodyPr wrap="square" lIns="508" tIns="508" rIns="508" bIns="508" rtlCol="0" anchor="ctr"/>
          <a:lstStyle/>
          <a:p>
            <a:pPr marL="0" indent="0" algn="ctr">
              <a:buNone/>
            </a:pPr>
            <a:r>
              <a:rPr lang="en-US" sz="1500" b="1" dirty="0">
                <a:solidFill>
                  <a:srgbClr val="0F172A"/>
                </a:solidFill>
              </a:rPr>
              <a:t>Metrics</a:t>
            </a:r>
            <a:endParaRPr lang="en-US" sz="1500" dirty="0"/>
          </a:p>
        </p:txBody>
      </p:sp>
      <p:sp>
        <p:nvSpPr>
          <p:cNvPr id="18" name="Text 16"/>
          <p:cNvSpPr/>
          <p:nvPr/>
        </p:nvSpPr>
        <p:spPr>
          <a:xfrm>
            <a:off x="804672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how performance is judged</a:t>
            </a:r>
            <a:endParaRPr lang="en-US" sz="950" dirty="0"/>
          </a:p>
        </p:txBody>
      </p:sp>
      <p:sp>
        <p:nvSpPr>
          <p:cNvPr id="19" name="Text 17"/>
          <p:cNvSpPr/>
          <p:nvPr/>
        </p:nvSpPr>
        <p:spPr>
          <a:xfrm>
            <a:off x="9601200" y="2011680"/>
            <a:ext cx="320040" cy="274320"/>
          </a:xfrm>
          <a:prstGeom prst="rect">
            <a:avLst/>
          </a:prstGeom>
          <a:noFill/>
          <a:ln/>
        </p:spPr>
        <p:txBody>
          <a:bodyPr wrap="square" lIns="0" tIns="0" rIns="0" bIns="0" rtlCol="0" anchor="ctr"/>
          <a:lstStyle/>
          <a:p>
            <a:pPr marL="0" indent="0" algn="ctr">
              <a:buNone/>
            </a:pPr>
            <a:r>
              <a:rPr lang="en-US" sz="1800" b="1" dirty="0">
                <a:solidFill>
                  <a:srgbClr val="475569"/>
                </a:solidFill>
              </a:rPr>
              <a:t>→</a:t>
            </a:r>
            <a:endParaRPr lang="en-US" sz="1800" dirty="0"/>
          </a:p>
        </p:txBody>
      </p:sp>
      <p:sp>
        <p:nvSpPr>
          <p:cNvPr id="20" name="Text 18"/>
          <p:cNvSpPr/>
          <p:nvPr/>
        </p:nvSpPr>
        <p:spPr>
          <a:xfrm>
            <a:off x="9921240" y="1874520"/>
            <a:ext cx="1508760" cy="502920"/>
          </a:xfrm>
          <a:prstGeom prst="roundRect">
            <a:avLst/>
          </a:prstGeom>
          <a:solidFill>
            <a:srgbClr val="E2E8F0"/>
          </a:solidFill>
          <a:ln>
            <a:solidFill>
              <a:srgbClr val="E2E8F0"/>
            </a:solidFill>
          </a:ln>
        </p:spPr>
        <p:txBody>
          <a:bodyPr wrap="square" lIns="508" tIns="508" rIns="508" bIns="508" rtlCol="0" anchor="ctr"/>
          <a:lstStyle/>
          <a:p>
            <a:pPr marL="0" indent="0" algn="ctr">
              <a:buNone/>
            </a:pPr>
            <a:r>
              <a:rPr lang="en-US" sz="1500" b="1" dirty="0">
                <a:solidFill>
                  <a:srgbClr val="0F172A"/>
                </a:solidFill>
              </a:rPr>
              <a:t>Result</a:t>
            </a:r>
            <a:endParaRPr lang="en-US" sz="1500" dirty="0"/>
          </a:p>
        </p:txBody>
      </p:sp>
      <p:sp>
        <p:nvSpPr>
          <p:cNvPr id="21" name="Text 19"/>
          <p:cNvSpPr/>
          <p:nvPr/>
        </p:nvSpPr>
        <p:spPr>
          <a:xfrm>
            <a:off x="9921240" y="2487168"/>
            <a:ext cx="1508760" cy="411480"/>
          </a:xfrm>
          <a:prstGeom prst="rect">
            <a:avLst/>
          </a:prstGeom>
          <a:noFill/>
          <a:ln/>
        </p:spPr>
        <p:txBody>
          <a:bodyPr wrap="square" lIns="254" tIns="254" rIns="254" bIns="254" rtlCol="0" anchor="ctr">
            <a:normAutofit/>
          </a:bodyPr>
          <a:lstStyle/>
          <a:p>
            <a:pPr marL="0" indent="0" algn="ctr">
              <a:buNone/>
            </a:pPr>
            <a:r>
              <a:rPr lang="en-US" sz="950" dirty="0">
                <a:solidFill>
                  <a:srgbClr val="475569"/>
                </a:solidFill>
              </a:rPr>
              <a:t>what the model means</a:t>
            </a:r>
            <a:endParaRPr lang="en-US" sz="950" dirty="0"/>
          </a:p>
        </p:txBody>
      </p:sp>
      <p:sp>
        <p:nvSpPr>
          <p:cNvPr id="22" name="Text 20"/>
          <p:cNvSpPr/>
          <p:nvPr/>
        </p:nvSpPr>
        <p:spPr>
          <a:xfrm>
            <a:off x="914400" y="4069080"/>
            <a:ext cx="2011680" cy="274320"/>
          </a:xfrm>
          <a:prstGeom prst="rect">
            <a:avLst/>
          </a:prstGeom>
          <a:noFill/>
          <a:ln/>
        </p:spPr>
        <p:txBody>
          <a:bodyPr wrap="square" lIns="0" tIns="0" rIns="0" bIns="0" rtlCol="0" anchor="ctr"/>
          <a:lstStyle/>
          <a:p>
            <a:pPr marL="0" indent="0">
              <a:buNone/>
            </a:pPr>
            <a:r>
              <a:rPr lang="en-US" sz="1400" b="1" dirty="0">
                <a:solidFill>
                  <a:srgbClr val="DC2626"/>
                </a:solidFill>
              </a:rPr>
              <a:t>Weak report</a:t>
            </a:r>
            <a:endParaRPr lang="en-US" sz="1400" dirty="0"/>
          </a:p>
        </p:txBody>
      </p:sp>
      <p:sp>
        <p:nvSpPr>
          <p:cNvPr id="23" name="Text 21"/>
          <p:cNvSpPr/>
          <p:nvPr/>
        </p:nvSpPr>
        <p:spPr>
          <a:xfrm>
            <a:off x="914400" y="4434840"/>
            <a:ext cx="3749040" cy="365760"/>
          </a:xfrm>
          <a:prstGeom prst="rect">
            <a:avLst/>
          </a:prstGeom>
          <a:noFill/>
          <a:ln/>
        </p:spPr>
        <p:txBody>
          <a:bodyPr wrap="square" lIns="0" tIns="0" rIns="0" bIns="0" rtlCol="0" anchor="ctr"/>
          <a:lstStyle/>
          <a:p>
            <a:pPr marL="0" indent="0">
              <a:buNone/>
            </a:pPr>
            <a:r>
              <a:rPr lang="en-US" sz="1700" i="1" dirty="0">
                <a:solidFill>
                  <a:srgbClr val="475569"/>
                </a:solidFill>
              </a:rPr>
              <a:t>“I built an AI app.”</a:t>
            </a:r>
            <a:endParaRPr lang="en-US" sz="1700" dirty="0"/>
          </a:p>
        </p:txBody>
      </p:sp>
      <p:sp>
        <p:nvSpPr>
          <p:cNvPr id="24" name="Text 22"/>
          <p:cNvSpPr/>
          <p:nvPr/>
        </p:nvSpPr>
        <p:spPr>
          <a:xfrm>
            <a:off x="6446520" y="4069080"/>
            <a:ext cx="2103120" cy="274320"/>
          </a:xfrm>
          <a:prstGeom prst="rect">
            <a:avLst/>
          </a:prstGeom>
          <a:noFill/>
          <a:ln/>
        </p:spPr>
        <p:txBody>
          <a:bodyPr wrap="square" lIns="0" tIns="0" rIns="0" bIns="0" rtlCol="0" anchor="ctr"/>
          <a:lstStyle/>
          <a:p>
            <a:pPr marL="0" indent="0">
              <a:buNone/>
            </a:pPr>
            <a:r>
              <a:rPr lang="en-US" sz="1400" b="1" dirty="0">
                <a:solidFill>
                  <a:srgbClr val="16A34A"/>
                </a:solidFill>
              </a:rPr>
              <a:t>Strong report</a:t>
            </a:r>
            <a:endParaRPr lang="en-US" sz="1400" dirty="0"/>
          </a:p>
        </p:txBody>
      </p:sp>
      <p:sp>
        <p:nvSpPr>
          <p:cNvPr id="25" name="Text 23"/>
          <p:cNvSpPr/>
          <p:nvPr/>
        </p:nvSpPr>
        <p:spPr>
          <a:xfrm>
            <a:off x="6446520" y="4434840"/>
            <a:ext cx="4800600" cy="731520"/>
          </a:xfrm>
          <a:prstGeom prst="rect">
            <a:avLst/>
          </a:prstGeom>
          <a:noFill/>
          <a:ln/>
        </p:spPr>
        <p:txBody>
          <a:bodyPr wrap="square" lIns="0" tIns="0" rIns="0" bIns="0" rtlCol="0" anchor="ctr">
            <a:normAutofit/>
          </a:bodyPr>
          <a:lstStyle/>
          <a:p>
            <a:pPr marL="0" indent="0">
              <a:buNone/>
            </a:pPr>
            <a:r>
              <a:rPr lang="en-US" sz="1450" i="1" dirty="0">
                <a:solidFill>
                  <a:srgbClr val="475569"/>
                </a:solidFill>
              </a:rPr>
              <a:t>“I trained, evaluated, and explained an ML model, then integrated it into a prototype.”</a:t>
            </a:r>
            <a:endParaRPr lang="en-US" sz="1450" dirty="0"/>
          </a:p>
        </p:txBody>
      </p:sp>
      <p:sp>
        <p:nvSpPr>
          <p:cNvPr id="26" name="Text 24"/>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Chapter 1: Introduction</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By the end of Chapter 1, the reader should know what problem is being solved and why it matters.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BEAFE"/>
          </a:solidFill>
          <a:ln>
            <a:solidFill>
              <a:srgbClr val="DBEAFE"/>
            </a:solidFill>
          </a:ln>
        </p:spPr>
        <p:txBody>
          <a:bodyPr wrap="square" lIns="635" tIns="635" rIns="635" bIns="635" rtlCol="0" anchor="ctr"/>
          <a:lstStyle/>
          <a:p>
            <a:pPr marL="0" indent="0" algn="ctr">
              <a:buNone/>
            </a:pPr>
            <a:r>
              <a:rPr lang="en-US" sz="1000" b="1" dirty="0">
                <a:solidFill>
                  <a:srgbClr val="2563EB"/>
                </a:solidFill>
              </a:rPr>
              <a:t>Chapter 1</a:t>
            </a:r>
            <a:endParaRPr lang="en-US" sz="1000" dirty="0"/>
          </a:p>
        </p:txBody>
      </p:sp>
      <p:sp>
        <p:nvSpPr>
          <p:cNvPr id="6" name="Text 4"/>
          <p:cNvSpPr/>
          <p:nvPr/>
        </p:nvSpPr>
        <p:spPr>
          <a:xfrm>
            <a:off x="685800" y="150876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What to include</a:t>
            </a:r>
            <a:endParaRPr lang="en-US" sz="1450" dirty="0"/>
          </a:p>
        </p:txBody>
      </p:sp>
      <p:sp>
        <p:nvSpPr>
          <p:cNvPr id="7" name="Text 5"/>
          <p:cNvSpPr/>
          <p:nvPr/>
        </p:nvSpPr>
        <p:spPr>
          <a:xfrm>
            <a:off x="685800" y="1947672"/>
            <a:ext cx="5120640" cy="2944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Background and context</a:t>
            </a:r>
          </a:p>
          <a:p>
            <a:pPr marL="0" indent="0">
              <a:buNone/>
            </a:pPr>
            <a:endParaRPr lang="en-US" sz="1400" dirty="0"/>
          </a:p>
          <a:p>
            <a:pPr marL="0" indent="0">
              <a:buNone/>
            </a:pPr>
            <a:r>
              <a:rPr lang="en-US" sz="1400" dirty="0">
                <a:solidFill>
                  <a:srgbClr val="475569"/>
                </a:solidFill>
              </a:rPr>
              <a:t>Problem statement</a:t>
            </a:r>
          </a:p>
          <a:p>
            <a:pPr marL="0" indent="0">
              <a:buNone/>
            </a:pPr>
            <a:endParaRPr lang="en-US" sz="1400" dirty="0"/>
          </a:p>
          <a:p>
            <a:pPr marL="0" indent="0">
              <a:buNone/>
            </a:pPr>
            <a:r>
              <a:rPr lang="en-US" sz="1400" dirty="0">
                <a:solidFill>
                  <a:srgbClr val="475569"/>
                </a:solidFill>
              </a:rPr>
              <a:t>Research gap</a:t>
            </a:r>
          </a:p>
          <a:p>
            <a:pPr marL="0" indent="0">
              <a:buNone/>
            </a:pPr>
            <a:endParaRPr lang="en-US" sz="1400" dirty="0"/>
          </a:p>
          <a:p>
            <a:pPr marL="0" indent="0">
              <a:buNone/>
            </a:pPr>
            <a:r>
              <a:rPr lang="en-US" sz="1400" dirty="0">
                <a:solidFill>
                  <a:srgbClr val="475569"/>
                </a:solidFill>
              </a:rPr>
              <a:t>Main and specific objectives</a:t>
            </a:r>
          </a:p>
          <a:p>
            <a:pPr marL="0" indent="0">
              <a:buNone/>
            </a:pPr>
            <a:endParaRPr lang="en-US" sz="1400" dirty="0"/>
          </a:p>
          <a:p>
            <a:pPr marL="0" indent="0">
              <a:buNone/>
            </a:pPr>
            <a:r>
              <a:rPr lang="en-US" sz="1400" dirty="0">
                <a:solidFill>
                  <a:srgbClr val="475569"/>
                </a:solidFill>
              </a:rPr>
              <a:t>Research questions</a:t>
            </a:r>
          </a:p>
          <a:p>
            <a:pPr marL="0" indent="0">
              <a:buNone/>
            </a:pPr>
            <a:endParaRPr lang="en-US" sz="1400" dirty="0"/>
          </a:p>
          <a:p>
            <a:pPr marL="0" indent="0">
              <a:buNone/>
            </a:pPr>
            <a:r>
              <a:rPr lang="en-US" sz="1400" dirty="0">
                <a:solidFill>
                  <a:srgbClr val="475569"/>
                </a:solidFill>
              </a:rPr>
              <a:t>Scope and significance</a:t>
            </a:r>
            <a:endParaRPr lang="en-US" sz="1400" dirty="0"/>
          </a:p>
        </p:txBody>
      </p:sp>
      <p:sp>
        <p:nvSpPr>
          <p:cNvPr id="8" name="Shape 6"/>
          <p:cNvSpPr/>
          <p:nvPr/>
        </p:nvSpPr>
        <p:spPr>
          <a:xfrm>
            <a:off x="704088" y="1892808"/>
            <a:ext cx="5084064" cy="0"/>
          </a:xfrm>
          <a:prstGeom prst="line">
            <a:avLst/>
          </a:prstGeom>
          <a:noFill/>
          <a:ln w="27940">
            <a:solidFill>
              <a:srgbClr val="2563EB"/>
            </a:solidFill>
            <a:prstDash val="solid"/>
          </a:ln>
        </p:spPr>
        <p:txBody>
          <a:bodyPr/>
          <a:lstStyle/>
          <a:p>
            <a:endParaRPr lang="en-US"/>
          </a:p>
        </p:txBody>
      </p:sp>
      <p:sp>
        <p:nvSpPr>
          <p:cNvPr id="9" name="Text 7"/>
          <p:cNvSpPr/>
          <p:nvPr/>
        </p:nvSpPr>
        <p:spPr>
          <a:xfrm>
            <a:off x="6400800" y="150876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Expected quality</a:t>
            </a:r>
            <a:endParaRPr lang="en-US" sz="1450" dirty="0"/>
          </a:p>
        </p:txBody>
      </p:sp>
      <p:sp>
        <p:nvSpPr>
          <p:cNvPr id="10" name="Text 8"/>
          <p:cNvSpPr/>
          <p:nvPr/>
        </p:nvSpPr>
        <p:spPr>
          <a:xfrm>
            <a:off x="6400800" y="1947672"/>
            <a:ext cx="5120640" cy="2944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Use evidence and citations.</a:t>
            </a:r>
          </a:p>
          <a:p>
            <a:pPr marL="0" indent="0">
              <a:buNone/>
            </a:pPr>
            <a:endParaRPr lang="en-US" sz="1400" dirty="0"/>
          </a:p>
          <a:p>
            <a:pPr marL="0" indent="0">
              <a:buNone/>
            </a:pPr>
            <a:r>
              <a:rPr lang="en-US" sz="1400" dirty="0">
                <a:solidFill>
                  <a:srgbClr val="475569"/>
                </a:solidFill>
              </a:rPr>
              <a:t>Write narrowly.</a:t>
            </a:r>
          </a:p>
          <a:p>
            <a:pPr marL="0" indent="0">
              <a:buNone/>
            </a:pPr>
            <a:endParaRPr lang="en-US" sz="1400" dirty="0"/>
          </a:p>
          <a:p>
            <a:pPr marL="0" indent="0">
              <a:buNone/>
            </a:pPr>
            <a:r>
              <a:rPr lang="en-US" sz="1400" dirty="0">
                <a:solidFill>
                  <a:srgbClr val="475569"/>
                </a:solidFill>
              </a:rPr>
              <a:t>Separate the real-world problem from the research gap.</a:t>
            </a:r>
          </a:p>
          <a:p>
            <a:pPr marL="0" indent="0">
              <a:buNone/>
            </a:pPr>
            <a:endParaRPr lang="en-US" sz="1400" dirty="0"/>
          </a:p>
          <a:p>
            <a:pPr marL="0" indent="0">
              <a:buNone/>
            </a:pPr>
            <a:r>
              <a:rPr lang="en-US" sz="1400" dirty="0">
                <a:solidFill>
                  <a:srgbClr val="475569"/>
                </a:solidFill>
              </a:rPr>
              <a:t>State what the project will not do.</a:t>
            </a:r>
            <a:endParaRPr lang="en-US" sz="1400" dirty="0"/>
          </a:p>
        </p:txBody>
      </p:sp>
      <p:sp>
        <p:nvSpPr>
          <p:cNvPr id="11" name="Shape 9"/>
          <p:cNvSpPr/>
          <p:nvPr/>
        </p:nvSpPr>
        <p:spPr>
          <a:xfrm>
            <a:off x="6419088" y="1892808"/>
            <a:ext cx="5084064" cy="0"/>
          </a:xfrm>
          <a:prstGeom prst="line">
            <a:avLst/>
          </a:prstGeom>
          <a:noFill/>
          <a:ln w="27940">
            <a:solidFill>
              <a:srgbClr val="16A34A"/>
            </a:solidFill>
            <a:prstDash val="solid"/>
          </a:ln>
        </p:spPr>
        <p:txBody>
          <a:bodyPr/>
          <a:lstStyle/>
          <a:p>
            <a:endParaRPr lang="en-US"/>
          </a:p>
        </p:txBody>
      </p:sp>
      <p:sp>
        <p:nvSpPr>
          <p:cNvPr id="12" name="Text 10"/>
          <p:cNvSpPr/>
          <p:nvPr/>
        </p:nvSpPr>
        <p:spPr>
          <a:xfrm>
            <a:off x="914400" y="5532120"/>
            <a:ext cx="10241280" cy="4572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0F172A"/>
                </a:solidFill>
              </a:rPr>
              <a:t>Do not start with a huge social problem and end with an unclear app. Start with a focused, measurable ML problem.</a:t>
            </a:r>
            <a:endParaRPr lang="en-US" sz="160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Problem statement and research gap</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These are related, but they are not the same.</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BEAFE"/>
          </a:solidFill>
          <a:ln>
            <a:solidFill>
              <a:srgbClr val="DBEAFE"/>
            </a:solidFill>
          </a:ln>
        </p:spPr>
        <p:txBody>
          <a:bodyPr wrap="square" lIns="635" tIns="635" rIns="635" bIns="635" rtlCol="0" anchor="ctr"/>
          <a:lstStyle/>
          <a:p>
            <a:pPr marL="0" indent="0" algn="ctr">
              <a:buNone/>
            </a:pPr>
            <a:r>
              <a:rPr lang="en-US" sz="1000" b="1" dirty="0">
                <a:solidFill>
                  <a:srgbClr val="2563EB"/>
                </a:solidFill>
              </a:rPr>
              <a:t>Chapter 1</a:t>
            </a:r>
            <a:endParaRPr lang="en-US" sz="1000" dirty="0"/>
          </a:p>
        </p:txBody>
      </p:sp>
      <p:sp>
        <p:nvSpPr>
          <p:cNvPr id="6" name="Text 4"/>
          <p:cNvSpPr/>
          <p:nvPr/>
        </p:nvSpPr>
        <p:spPr>
          <a:xfrm>
            <a:off x="685800" y="1417320"/>
            <a:ext cx="32918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Problem</a:t>
            </a:r>
            <a:endParaRPr lang="en-US" sz="1450" dirty="0"/>
          </a:p>
        </p:txBody>
      </p:sp>
      <p:sp>
        <p:nvSpPr>
          <p:cNvPr id="7" name="Text 5"/>
          <p:cNvSpPr/>
          <p:nvPr/>
        </p:nvSpPr>
        <p:spPr>
          <a:xfrm>
            <a:off x="685800" y="1856232"/>
            <a:ext cx="3291840" cy="1801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What is wrong in the real world?</a:t>
            </a:r>
          </a:p>
          <a:p>
            <a:pPr marL="0" indent="0">
              <a:buNone/>
            </a:pPr>
            <a:endParaRPr lang="en-US" sz="1400" dirty="0"/>
          </a:p>
          <a:p>
            <a:pPr marL="0" indent="0">
              <a:buNone/>
            </a:pPr>
            <a:r>
              <a:rPr lang="en-US" sz="1400" dirty="0">
                <a:solidFill>
                  <a:srgbClr val="475569"/>
                </a:solidFill>
              </a:rPr>
              <a:t>Who is affected?</a:t>
            </a:r>
          </a:p>
          <a:p>
            <a:pPr marL="0" indent="0">
              <a:buNone/>
            </a:pPr>
            <a:endParaRPr lang="en-US" sz="1400" dirty="0"/>
          </a:p>
          <a:p>
            <a:pPr marL="0" indent="0">
              <a:buNone/>
            </a:pPr>
            <a:r>
              <a:rPr lang="en-US" sz="1400" dirty="0">
                <a:solidFill>
                  <a:srgbClr val="475569"/>
                </a:solidFill>
              </a:rPr>
              <a:t>What is the consequence?</a:t>
            </a:r>
            <a:endParaRPr lang="en-US" sz="1400" dirty="0"/>
          </a:p>
        </p:txBody>
      </p:sp>
      <p:sp>
        <p:nvSpPr>
          <p:cNvPr id="8" name="Shape 6"/>
          <p:cNvSpPr/>
          <p:nvPr/>
        </p:nvSpPr>
        <p:spPr>
          <a:xfrm>
            <a:off x="704088" y="1801368"/>
            <a:ext cx="3255264" cy="0"/>
          </a:xfrm>
          <a:prstGeom prst="line">
            <a:avLst/>
          </a:prstGeom>
          <a:noFill/>
          <a:ln w="27940">
            <a:solidFill>
              <a:srgbClr val="DC2626"/>
            </a:solidFill>
            <a:prstDash val="solid"/>
          </a:ln>
        </p:spPr>
        <p:txBody>
          <a:bodyPr/>
          <a:lstStyle/>
          <a:p>
            <a:endParaRPr lang="en-US"/>
          </a:p>
        </p:txBody>
      </p:sp>
      <p:sp>
        <p:nvSpPr>
          <p:cNvPr id="9" name="Text 7"/>
          <p:cNvSpPr/>
          <p:nvPr/>
        </p:nvSpPr>
        <p:spPr>
          <a:xfrm>
            <a:off x="4434840" y="1417320"/>
            <a:ext cx="32918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Gap</a:t>
            </a:r>
            <a:endParaRPr lang="en-US" sz="1450" dirty="0"/>
          </a:p>
        </p:txBody>
      </p:sp>
      <p:sp>
        <p:nvSpPr>
          <p:cNvPr id="10" name="Text 8"/>
          <p:cNvSpPr/>
          <p:nvPr/>
        </p:nvSpPr>
        <p:spPr>
          <a:xfrm>
            <a:off x="4434840" y="1856232"/>
            <a:ext cx="3291840" cy="1801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What do existing studies, tools, or systems fail to address?</a:t>
            </a:r>
          </a:p>
          <a:p>
            <a:pPr marL="0" indent="0">
              <a:buNone/>
            </a:pPr>
            <a:endParaRPr lang="en-US" sz="1400" dirty="0"/>
          </a:p>
          <a:p>
            <a:pPr marL="0" indent="0">
              <a:buNone/>
            </a:pPr>
            <a:r>
              <a:rPr lang="en-US" sz="1400" dirty="0">
                <a:solidFill>
                  <a:srgbClr val="475569"/>
                </a:solidFill>
              </a:rPr>
              <a:t>What is missing in the current approach?</a:t>
            </a:r>
            <a:endParaRPr lang="en-US" sz="1400" dirty="0"/>
          </a:p>
        </p:txBody>
      </p:sp>
      <p:sp>
        <p:nvSpPr>
          <p:cNvPr id="11" name="Shape 9"/>
          <p:cNvSpPr/>
          <p:nvPr/>
        </p:nvSpPr>
        <p:spPr>
          <a:xfrm>
            <a:off x="4453128" y="1801368"/>
            <a:ext cx="3255264" cy="0"/>
          </a:xfrm>
          <a:prstGeom prst="line">
            <a:avLst/>
          </a:prstGeom>
          <a:noFill/>
          <a:ln w="27940">
            <a:solidFill>
              <a:srgbClr val="F59E0B"/>
            </a:solidFill>
            <a:prstDash val="solid"/>
          </a:ln>
        </p:spPr>
        <p:txBody>
          <a:bodyPr/>
          <a:lstStyle/>
          <a:p>
            <a:endParaRPr lang="en-US"/>
          </a:p>
        </p:txBody>
      </p:sp>
      <p:sp>
        <p:nvSpPr>
          <p:cNvPr id="12" name="Text 10"/>
          <p:cNvSpPr/>
          <p:nvPr/>
        </p:nvSpPr>
        <p:spPr>
          <a:xfrm>
            <a:off x="8183880" y="1417320"/>
            <a:ext cx="32918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Proposed ML response</a:t>
            </a:r>
            <a:endParaRPr lang="en-US" sz="1450" dirty="0"/>
          </a:p>
        </p:txBody>
      </p:sp>
      <p:sp>
        <p:nvSpPr>
          <p:cNvPr id="13" name="Text 11"/>
          <p:cNvSpPr/>
          <p:nvPr/>
        </p:nvSpPr>
        <p:spPr>
          <a:xfrm>
            <a:off x="8183880" y="1856232"/>
            <a:ext cx="3291840" cy="1801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How will your data and model address the gap in a measurable way?</a:t>
            </a:r>
            <a:endParaRPr lang="en-US" sz="1400" dirty="0"/>
          </a:p>
        </p:txBody>
      </p:sp>
      <p:sp>
        <p:nvSpPr>
          <p:cNvPr id="14" name="Shape 12"/>
          <p:cNvSpPr/>
          <p:nvPr/>
        </p:nvSpPr>
        <p:spPr>
          <a:xfrm>
            <a:off x="8202168" y="1801368"/>
            <a:ext cx="3255264" cy="0"/>
          </a:xfrm>
          <a:prstGeom prst="line">
            <a:avLst/>
          </a:prstGeom>
          <a:noFill/>
          <a:ln w="27940">
            <a:solidFill>
              <a:srgbClr val="16A34A"/>
            </a:solidFill>
            <a:prstDash val="solid"/>
          </a:ln>
        </p:spPr>
        <p:txBody>
          <a:bodyPr/>
          <a:lstStyle/>
          <a:p>
            <a:endParaRPr lang="en-US"/>
          </a:p>
        </p:txBody>
      </p:sp>
      <p:sp>
        <p:nvSpPr>
          <p:cNvPr id="15" name="Text 13"/>
          <p:cNvSpPr/>
          <p:nvPr/>
        </p:nvSpPr>
        <p:spPr>
          <a:xfrm>
            <a:off x="868680" y="4434840"/>
            <a:ext cx="4892040" cy="310896"/>
          </a:xfrm>
          <a:prstGeom prst="rect">
            <a:avLst/>
          </a:prstGeom>
          <a:noFill/>
          <a:ln/>
        </p:spPr>
        <p:txBody>
          <a:bodyPr wrap="square" lIns="0" tIns="0" rIns="0" bIns="0" rtlCol="0" anchor="ctr"/>
          <a:lstStyle/>
          <a:p>
            <a:pPr marL="0" indent="0">
              <a:buNone/>
            </a:pPr>
            <a:r>
              <a:rPr lang="en-US" sz="1350" b="1" dirty="0">
                <a:solidFill>
                  <a:srgbClr val="DC2626"/>
                </a:solidFill>
              </a:rPr>
              <a:t>Weak: “Healthcare is poor in Africa.”</a:t>
            </a:r>
            <a:endParaRPr lang="en-US" sz="1350" dirty="0"/>
          </a:p>
        </p:txBody>
      </p:sp>
      <p:sp>
        <p:nvSpPr>
          <p:cNvPr id="16" name="Text 14"/>
          <p:cNvSpPr/>
          <p:nvPr/>
        </p:nvSpPr>
        <p:spPr>
          <a:xfrm>
            <a:off x="868680" y="4956048"/>
            <a:ext cx="10332720" cy="621792"/>
          </a:xfrm>
          <a:prstGeom prst="rect">
            <a:avLst/>
          </a:prstGeom>
          <a:noFill/>
          <a:ln/>
        </p:spPr>
        <p:txBody>
          <a:bodyPr wrap="square" lIns="0" tIns="0" rIns="0" bIns="0" rtlCol="0" anchor="ctr">
            <a:normAutofit/>
          </a:bodyPr>
          <a:lstStyle/>
          <a:p>
            <a:pPr marL="0" indent="0">
              <a:buNone/>
            </a:pPr>
            <a:r>
              <a:rPr lang="en-US" sz="1300" dirty="0">
                <a:solidFill>
                  <a:srgbClr val="475569"/>
                </a:solidFill>
              </a:rPr>
              <a:t>Stronger: “There is limited ML-based early screening support for classifying nutrition-risk patterns from available child health indicators.”</a:t>
            </a:r>
            <a:endParaRPr lang="en-US" sz="1300" dirty="0"/>
          </a:p>
        </p:txBody>
      </p:sp>
      <p:sp>
        <p:nvSpPr>
          <p:cNvPr id="17" name="Text 15"/>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Objectives, research questions, and scope</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Everything must align. Objectives should lead to results.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BEAFE"/>
          </a:solidFill>
          <a:ln>
            <a:solidFill>
              <a:srgbClr val="DBEAFE"/>
            </a:solidFill>
          </a:ln>
        </p:spPr>
        <p:txBody>
          <a:bodyPr wrap="square" lIns="635" tIns="635" rIns="635" bIns="635" rtlCol="0" anchor="ctr"/>
          <a:lstStyle/>
          <a:p>
            <a:pPr marL="0" indent="0" algn="ctr">
              <a:buNone/>
            </a:pPr>
            <a:r>
              <a:rPr lang="en-US" sz="1000" b="1" dirty="0">
                <a:solidFill>
                  <a:srgbClr val="2563EB"/>
                </a:solidFill>
              </a:rPr>
              <a:t>Chapter 1</a:t>
            </a:r>
            <a:endParaRPr lang="en-US" sz="1000" dirty="0"/>
          </a:p>
        </p:txBody>
      </p:sp>
      <p:sp>
        <p:nvSpPr>
          <p:cNvPr id="6" name="Text 4"/>
          <p:cNvSpPr/>
          <p:nvPr/>
        </p:nvSpPr>
        <p:spPr>
          <a:xfrm>
            <a:off x="731520" y="1417320"/>
            <a:ext cx="310896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SMART objectives</a:t>
            </a:r>
            <a:endParaRPr lang="en-US" sz="1450" dirty="0"/>
          </a:p>
        </p:txBody>
      </p:sp>
      <p:sp>
        <p:nvSpPr>
          <p:cNvPr id="7" name="Text 5"/>
          <p:cNvSpPr/>
          <p:nvPr/>
        </p:nvSpPr>
        <p:spPr>
          <a:xfrm>
            <a:off x="731520" y="1856232"/>
            <a:ext cx="3108960" cy="23042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Specific</a:t>
            </a:r>
          </a:p>
          <a:p>
            <a:pPr marL="0" indent="0">
              <a:buNone/>
            </a:pPr>
            <a:endParaRPr lang="en-US" sz="1400" dirty="0"/>
          </a:p>
          <a:p>
            <a:pPr marL="0" indent="0">
              <a:buNone/>
            </a:pPr>
            <a:r>
              <a:rPr lang="en-US" sz="1400" dirty="0">
                <a:solidFill>
                  <a:srgbClr val="475569"/>
                </a:solidFill>
              </a:rPr>
              <a:t>Measurable</a:t>
            </a:r>
          </a:p>
          <a:p>
            <a:pPr marL="0" indent="0">
              <a:buNone/>
            </a:pPr>
            <a:endParaRPr lang="en-US" sz="1400" dirty="0"/>
          </a:p>
          <a:p>
            <a:pPr marL="0" indent="0">
              <a:buNone/>
            </a:pPr>
            <a:r>
              <a:rPr lang="en-US" sz="1400" dirty="0">
                <a:solidFill>
                  <a:srgbClr val="475569"/>
                </a:solidFill>
              </a:rPr>
              <a:t>Achievable</a:t>
            </a:r>
          </a:p>
          <a:p>
            <a:pPr marL="0" indent="0">
              <a:buNone/>
            </a:pPr>
            <a:endParaRPr lang="en-US" sz="1400" dirty="0"/>
          </a:p>
          <a:p>
            <a:pPr marL="0" indent="0">
              <a:buNone/>
            </a:pPr>
            <a:r>
              <a:rPr lang="en-US" sz="1400" dirty="0">
                <a:solidFill>
                  <a:srgbClr val="475569"/>
                </a:solidFill>
              </a:rPr>
              <a:t>Relevant</a:t>
            </a:r>
          </a:p>
          <a:p>
            <a:pPr marL="0" indent="0">
              <a:buNone/>
            </a:pPr>
            <a:endParaRPr lang="en-US" sz="1400" dirty="0"/>
          </a:p>
          <a:p>
            <a:pPr marL="0" indent="0">
              <a:buNone/>
            </a:pPr>
            <a:r>
              <a:rPr lang="en-US" sz="1400" dirty="0">
                <a:solidFill>
                  <a:srgbClr val="475569"/>
                </a:solidFill>
              </a:rPr>
              <a:t>Time-bound</a:t>
            </a:r>
            <a:endParaRPr lang="en-US" sz="1400" dirty="0"/>
          </a:p>
        </p:txBody>
      </p:sp>
      <p:sp>
        <p:nvSpPr>
          <p:cNvPr id="8" name="Shape 6"/>
          <p:cNvSpPr/>
          <p:nvPr/>
        </p:nvSpPr>
        <p:spPr>
          <a:xfrm>
            <a:off x="749808" y="1801368"/>
            <a:ext cx="3072384" cy="0"/>
          </a:xfrm>
          <a:prstGeom prst="line">
            <a:avLst/>
          </a:prstGeom>
          <a:noFill/>
          <a:ln w="27940">
            <a:solidFill>
              <a:srgbClr val="2563EB"/>
            </a:solidFill>
            <a:prstDash val="solid"/>
          </a:ln>
        </p:spPr>
        <p:txBody>
          <a:bodyPr/>
          <a:lstStyle/>
          <a:p>
            <a:endParaRPr lang="en-US"/>
          </a:p>
        </p:txBody>
      </p:sp>
      <p:sp>
        <p:nvSpPr>
          <p:cNvPr id="9" name="Text 7"/>
          <p:cNvSpPr/>
          <p:nvPr/>
        </p:nvSpPr>
        <p:spPr>
          <a:xfrm>
            <a:off x="4480560" y="1417320"/>
            <a:ext cx="310896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For ML projects</a:t>
            </a:r>
            <a:endParaRPr lang="en-US" sz="1450" dirty="0"/>
          </a:p>
        </p:txBody>
      </p:sp>
      <p:sp>
        <p:nvSpPr>
          <p:cNvPr id="10" name="Text 8"/>
          <p:cNvSpPr/>
          <p:nvPr/>
        </p:nvSpPr>
        <p:spPr>
          <a:xfrm>
            <a:off x="4480560" y="1856232"/>
            <a:ext cx="3108960" cy="23042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Prepare data</a:t>
            </a:r>
          </a:p>
          <a:p>
            <a:pPr marL="0" indent="0">
              <a:buNone/>
            </a:pPr>
            <a:endParaRPr lang="en-US" sz="1400" dirty="0"/>
          </a:p>
          <a:p>
            <a:pPr marL="0" indent="0">
              <a:buNone/>
            </a:pPr>
            <a:r>
              <a:rPr lang="en-US" sz="1400" dirty="0">
                <a:solidFill>
                  <a:srgbClr val="475569"/>
                </a:solidFill>
              </a:rPr>
              <a:t>Train and compare models</a:t>
            </a:r>
          </a:p>
          <a:p>
            <a:pPr marL="0" indent="0">
              <a:buNone/>
            </a:pPr>
            <a:endParaRPr lang="en-US" sz="1400" dirty="0"/>
          </a:p>
          <a:p>
            <a:pPr marL="0" indent="0">
              <a:buNone/>
            </a:pPr>
            <a:r>
              <a:rPr lang="en-US" sz="1400" dirty="0">
                <a:solidFill>
                  <a:srgbClr val="475569"/>
                </a:solidFill>
              </a:rPr>
              <a:t>Evaluate with correct metrics</a:t>
            </a:r>
          </a:p>
          <a:p>
            <a:pPr marL="0" indent="0">
              <a:buNone/>
            </a:pPr>
            <a:endParaRPr lang="en-US" sz="1400" dirty="0"/>
          </a:p>
          <a:p>
            <a:pPr marL="0" indent="0">
              <a:buNone/>
            </a:pPr>
            <a:r>
              <a:rPr lang="en-US" sz="1400" dirty="0">
                <a:solidFill>
                  <a:srgbClr val="475569"/>
                </a:solidFill>
              </a:rPr>
              <a:t>Integrate into prototype</a:t>
            </a:r>
          </a:p>
          <a:p>
            <a:pPr marL="0" indent="0">
              <a:buNone/>
            </a:pPr>
            <a:endParaRPr lang="en-US" sz="1400" dirty="0"/>
          </a:p>
          <a:p>
            <a:pPr marL="0" indent="0">
              <a:buNone/>
            </a:pPr>
            <a:r>
              <a:rPr lang="en-US" sz="1400" dirty="0">
                <a:solidFill>
                  <a:srgbClr val="475569"/>
                </a:solidFill>
              </a:rPr>
              <a:t>Discuss limitations</a:t>
            </a:r>
            <a:endParaRPr lang="en-US" sz="1400" dirty="0"/>
          </a:p>
        </p:txBody>
      </p:sp>
      <p:sp>
        <p:nvSpPr>
          <p:cNvPr id="11" name="Shape 9"/>
          <p:cNvSpPr/>
          <p:nvPr/>
        </p:nvSpPr>
        <p:spPr>
          <a:xfrm>
            <a:off x="4498848" y="1801368"/>
            <a:ext cx="3072384" cy="0"/>
          </a:xfrm>
          <a:prstGeom prst="line">
            <a:avLst/>
          </a:prstGeom>
          <a:noFill/>
          <a:ln w="27940">
            <a:solidFill>
              <a:srgbClr val="16A34A"/>
            </a:solidFill>
            <a:prstDash val="solid"/>
          </a:ln>
        </p:spPr>
        <p:txBody>
          <a:bodyPr/>
          <a:lstStyle/>
          <a:p>
            <a:endParaRPr lang="en-US"/>
          </a:p>
        </p:txBody>
      </p:sp>
      <p:sp>
        <p:nvSpPr>
          <p:cNvPr id="12" name="Text 10"/>
          <p:cNvSpPr/>
          <p:nvPr/>
        </p:nvSpPr>
        <p:spPr>
          <a:xfrm>
            <a:off x="8229600" y="1417320"/>
            <a:ext cx="310896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Scope boundaries</a:t>
            </a:r>
            <a:endParaRPr lang="en-US" sz="1450" dirty="0"/>
          </a:p>
        </p:txBody>
      </p:sp>
      <p:sp>
        <p:nvSpPr>
          <p:cNvPr id="13" name="Text 11"/>
          <p:cNvSpPr/>
          <p:nvPr/>
        </p:nvSpPr>
        <p:spPr>
          <a:xfrm>
            <a:off x="8229600" y="1856232"/>
            <a:ext cx="3108960" cy="23042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Content scope</a:t>
            </a:r>
          </a:p>
          <a:p>
            <a:pPr marL="0" indent="0">
              <a:buNone/>
            </a:pPr>
            <a:endParaRPr lang="en-US" sz="1400" dirty="0"/>
          </a:p>
          <a:p>
            <a:pPr marL="0" indent="0">
              <a:buNone/>
            </a:pPr>
            <a:r>
              <a:rPr lang="en-US" sz="1400" dirty="0">
                <a:solidFill>
                  <a:srgbClr val="475569"/>
                </a:solidFill>
              </a:rPr>
              <a:t>Geographical scope</a:t>
            </a:r>
          </a:p>
          <a:p>
            <a:pPr marL="0" indent="0">
              <a:buNone/>
            </a:pPr>
            <a:endParaRPr lang="en-US" sz="1400" dirty="0"/>
          </a:p>
          <a:p>
            <a:pPr marL="0" indent="0">
              <a:buNone/>
            </a:pPr>
            <a:r>
              <a:rPr lang="en-US" sz="1400" dirty="0">
                <a:solidFill>
                  <a:srgbClr val="475569"/>
                </a:solidFill>
              </a:rPr>
              <a:t>Data scope</a:t>
            </a:r>
          </a:p>
          <a:p>
            <a:pPr marL="0" indent="0">
              <a:buNone/>
            </a:pPr>
            <a:endParaRPr lang="en-US" sz="1400" dirty="0"/>
          </a:p>
          <a:p>
            <a:pPr marL="0" indent="0">
              <a:buNone/>
            </a:pPr>
            <a:r>
              <a:rPr lang="en-US" sz="1400" dirty="0">
                <a:solidFill>
                  <a:srgbClr val="475569"/>
                </a:solidFill>
              </a:rPr>
              <a:t>Technical scope</a:t>
            </a:r>
          </a:p>
          <a:p>
            <a:pPr marL="0" indent="0">
              <a:buNone/>
            </a:pPr>
            <a:endParaRPr lang="en-US" sz="1400" dirty="0"/>
          </a:p>
          <a:p>
            <a:pPr marL="0" indent="0">
              <a:buNone/>
            </a:pPr>
            <a:r>
              <a:rPr lang="en-US" sz="1400" dirty="0">
                <a:solidFill>
                  <a:srgbClr val="475569"/>
                </a:solidFill>
              </a:rPr>
              <a:t>Out of scope</a:t>
            </a:r>
            <a:endParaRPr lang="en-US" sz="1400" dirty="0"/>
          </a:p>
        </p:txBody>
      </p:sp>
      <p:sp>
        <p:nvSpPr>
          <p:cNvPr id="14" name="Shape 12"/>
          <p:cNvSpPr/>
          <p:nvPr/>
        </p:nvSpPr>
        <p:spPr>
          <a:xfrm>
            <a:off x="8247888" y="1801368"/>
            <a:ext cx="3072384" cy="0"/>
          </a:xfrm>
          <a:prstGeom prst="line">
            <a:avLst/>
          </a:prstGeom>
          <a:noFill/>
          <a:ln w="27940">
            <a:solidFill>
              <a:srgbClr val="7C3AED"/>
            </a:solidFill>
            <a:prstDash val="solid"/>
          </a:ln>
        </p:spPr>
        <p:txBody>
          <a:bodyPr/>
          <a:lstStyle/>
          <a:p>
            <a:endParaRPr lang="en-US"/>
          </a:p>
        </p:txBody>
      </p:sp>
      <p:sp>
        <p:nvSpPr>
          <p:cNvPr id="15" name="Text 13"/>
          <p:cNvSpPr/>
          <p:nvPr/>
        </p:nvSpPr>
        <p:spPr>
          <a:xfrm>
            <a:off x="914400" y="5074920"/>
            <a:ext cx="10241280" cy="411480"/>
          </a:xfrm>
          <a:prstGeom prst="rect">
            <a:avLst/>
          </a:prstGeom>
          <a:noFill/>
          <a:ln/>
        </p:spPr>
        <p:txBody>
          <a:bodyPr wrap="square" lIns="0" tIns="0" rIns="0" bIns="0" rtlCol="0" anchor="ctr"/>
          <a:lstStyle/>
          <a:p>
            <a:pPr marL="0" indent="0" algn="ctr">
              <a:buNone/>
            </a:pPr>
            <a:r>
              <a:rPr lang="en-US" sz="1600" b="1" dirty="0">
                <a:solidFill>
                  <a:srgbClr val="0F172A"/>
                </a:solidFill>
              </a:rPr>
              <a:t>Good scope prevents overclaiming and makes the project defensible.</a:t>
            </a:r>
            <a:endParaRPr lang="en-US" sz="1600" dirty="0"/>
          </a:p>
        </p:txBody>
      </p:sp>
      <p:sp>
        <p:nvSpPr>
          <p:cNvPr id="16" name="Text 14"/>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Chapter 2: Literature Review</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Show that you understand what already exists and where your project fits.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EDE9FE"/>
          </a:solidFill>
          <a:ln>
            <a:solidFill>
              <a:srgbClr val="EDE9FE"/>
            </a:solidFill>
          </a:ln>
        </p:spPr>
        <p:txBody>
          <a:bodyPr wrap="square" lIns="635" tIns="635" rIns="635" bIns="635" rtlCol="0" anchor="ctr"/>
          <a:lstStyle/>
          <a:p>
            <a:pPr marL="0" indent="0" algn="ctr">
              <a:buNone/>
            </a:pPr>
            <a:r>
              <a:rPr lang="en-US" sz="1000" b="1" dirty="0">
                <a:solidFill>
                  <a:srgbClr val="7C3AED"/>
                </a:solidFill>
              </a:rPr>
              <a:t>Chapter 2</a:t>
            </a:r>
            <a:endParaRPr lang="en-US" sz="1000" dirty="0"/>
          </a:p>
        </p:txBody>
      </p:sp>
      <p:sp>
        <p:nvSpPr>
          <p:cNvPr id="6" name="Text 4"/>
          <p:cNvSpPr/>
          <p:nvPr/>
        </p:nvSpPr>
        <p:spPr>
          <a:xfrm>
            <a:off x="685800" y="150876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Chapter 2 should include</a:t>
            </a:r>
            <a:endParaRPr lang="en-US" sz="1450" dirty="0"/>
          </a:p>
        </p:txBody>
      </p:sp>
      <p:sp>
        <p:nvSpPr>
          <p:cNvPr id="7" name="Text 5"/>
          <p:cNvSpPr/>
          <p:nvPr/>
        </p:nvSpPr>
        <p:spPr>
          <a:xfrm>
            <a:off x="685800" y="1947672"/>
            <a:ext cx="5120640" cy="2944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Existing studies</a:t>
            </a:r>
          </a:p>
          <a:p>
            <a:pPr marL="0" indent="0">
              <a:buNone/>
            </a:pPr>
            <a:endParaRPr lang="en-US" sz="1400" dirty="0"/>
          </a:p>
          <a:p>
            <a:pPr marL="0" indent="0">
              <a:buNone/>
            </a:pPr>
            <a:r>
              <a:rPr lang="en-US" sz="1400" dirty="0">
                <a:solidFill>
                  <a:srgbClr val="475569"/>
                </a:solidFill>
              </a:rPr>
              <a:t>Existing systems</a:t>
            </a:r>
          </a:p>
          <a:p>
            <a:pPr marL="0" indent="0">
              <a:buNone/>
            </a:pPr>
            <a:endParaRPr lang="en-US" sz="1400" dirty="0"/>
          </a:p>
          <a:p>
            <a:pPr marL="0" indent="0">
              <a:buNone/>
            </a:pPr>
            <a:r>
              <a:rPr lang="en-US" sz="1400" dirty="0">
                <a:solidFill>
                  <a:srgbClr val="475569"/>
                </a:solidFill>
              </a:rPr>
              <a:t>ML methods used in similar work</a:t>
            </a:r>
          </a:p>
          <a:p>
            <a:pPr marL="0" indent="0">
              <a:buNone/>
            </a:pPr>
            <a:endParaRPr lang="en-US" sz="1400" dirty="0"/>
          </a:p>
          <a:p>
            <a:pPr marL="0" indent="0">
              <a:buNone/>
            </a:pPr>
            <a:r>
              <a:rPr lang="en-US" sz="1400" dirty="0">
                <a:solidFill>
                  <a:srgbClr val="475569"/>
                </a:solidFill>
              </a:rPr>
              <a:t>Datasets used in previous work</a:t>
            </a:r>
          </a:p>
          <a:p>
            <a:pPr marL="0" indent="0">
              <a:buNone/>
            </a:pPr>
            <a:endParaRPr lang="en-US" sz="1400" dirty="0"/>
          </a:p>
          <a:p>
            <a:pPr marL="0" indent="0">
              <a:buNone/>
            </a:pPr>
            <a:r>
              <a:rPr lang="en-US" sz="1400" dirty="0">
                <a:solidFill>
                  <a:srgbClr val="475569"/>
                </a:solidFill>
              </a:rPr>
              <a:t>Strengths and weaknesses</a:t>
            </a:r>
          </a:p>
          <a:p>
            <a:pPr marL="0" indent="0">
              <a:buNone/>
            </a:pPr>
            <a:endParaRPr lang="en-US" sz="1400" dirty="0"/>
          </a:p>
          <a:p>
            <a:pPr marL="0" indent="0">
              <a:buNone/>
            </a:pPr>
            <a:r>
              <a:rPr lang="en-US" sz="1400" dirty="0">
                <a:solidFill>
                  <a:srgbClr val="475569"/>
                </a:solidFill>
              </a:rPr>
              <a:t>Final gap statement</a:t>
            </a:r>
            <a:endParaRPr lang="en-US" sz="1400" dirty="0"/>
          </a:p>
        </p:txBody>
      </p:sp>
      <p:sp>
        <p:nvSpPr>
          <p:cNvPr id="8" name="Shape 6"/>
          <p:cNvSpPr/>
          <p:nvPr/>
        </p:nvSpPr>
        <p:spPr>
          <a:xfrm>
            <a:off x="704088" y="1892808"/>
            <a:ext cx="5084064" cy="0"/>
          </a:xfrm>
          <a:prstGeom prst="line">
            <a:avLst/>
          </a:prstGeom>
          <a:noFill/>
          <a:ln w="27940">
            <a:solidFill>
              <a:srgbClr val="7C3AED"/>
            </a:solidFill>
            <a:prstDash val="solid"/>
          </a:ln>
        </p:spPr>
        <p:txBody>
          <a:bodyPr/>
          <a:lstStyle/>
          <a:p>
            <a:endParaRPr lang="en-US"/>
          </a:p>
        </p:txBody>
      </p:sp>
      <p:sp>
        <p:nvSpPr>
          <p:cNvPr id="9" name="Text 7"/>
          <p:cNvSpPr/>
          <p:nvPr/>
        </p:nvSpPr>
        <p:spPr>
          <a:xfrm>
            <a:off x="6400800" y="150876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Expected quality</a:t>
            </a:r>
            <a:endParaRPr lang="en-US" sz="1450" dirty="0"/>
          </a:p>
        </p:txBody>
      </p:sp>
      <p:sp>
        <p:nvSpPr>
          <p:cNvPr id="10" name="Text 8"/>
          <p:cNvSpPr/>
          <p:nvPr/>
        </p:nvSpPr>
        <p:spPr>
          <a:xfrm>
            <a:off x="6400800" y="1947672"/>
            <a:ext cx="5120640" cy="29443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Organize by themes.</a:t>
            </a:r>
          </a:p>
          <a:p>
            <a:pPr marL="0" indent="0">
              <a:buNone/>
            </a:pPr>
            <a:endParaRPr lang="en-US" sz="1400" dirty="0"/>
          </a:p>
          <a:p>
            <a:pPr marL="0" indent="0">
              <a:buNone/>
            </a:pPr>
            <a:r>
              <a:rPr lang="en-US" sz="1400" dirty="0">
                <a:solidFill>
                  <a:srgbClr val="475569"/>
                </a:solidFill>
              </a:rPr>
              <a:t>Compare methods and datasets.</a:t>
            </a:r>
          </a:p>
          <a:p>
            <a:pPr marL="0" indent="0">
              <a:buNone/>
            </a:pPr>
            <a:endParaRPr lang="en-US" sz="1400" dirty="0"/>
          </a:p>
          <a:p>
            <a:pPr marL="0" indent="0">
              <a:buNone/>
            </a:pPr>
            <a:r>
              <a:rPr lang="en-US" sz="1400" dirty="0">
                <a:solidFill>
                  <a:srgbClr val="475569"/>
                </a:solidFill>
              </a:rPr>
              <a:t>Critique limitations.</a:t>
            </a:r>
          </a:p>
          <a:p>
            <a:pPr marL="0" indent="0">
              <a:buNone/>
            </a:pPr>
            <a:endParaRPr lang="en-US" sz="1400" dirty="0"/>
          </a:p>
          <a:p>
            <a:pPr marL="0" indent="0">
              <a:buNone/>
            </a:pPr>
            <a:r>
              <a:rPr lang="en-US" sz="1400" dirty="0">
                <a:solidFill>
                  <a:srgbClr val="475569"/>
                </a:solidFill>
              </a:rPr>
              <a:t>Use literature to justify your ML design.</a:t>
            </a:r>
            <a:endParaRPr lang="en-US" sz="1400" dirty="0"/>
          </a:p>
        </p:txBody>
      </p:sp>
      <p:sp>
        <p:nvSpPr>
          <p:cNvPr id="11" name="Shape 9"/>
          <p:cNvSpPr/>
          <p:nvPr/>
        </p:nvSpPr>
        <p:spPr>
          <a:xfrm>
            <a:off x="6419088" y="1892808"/>
            <a:ext cx="5084064" cy="0"/>
          </a:xfrm>
          <a:prstGeom prst="line">
            <a:avLst/>
          </a:prstGeom>
          <a:noFill/>
          <a:ln w="27940">
            <a:solidFill>
              <a:srgbClr val="2563EB"/>
            </a:solidFill>
            <a:prstDash val="solid"/>
          </a:ln>
        </p:spPr>
        <p:txBody>
          <a:bodyPr/>
          <a:lstStyle/>
          <a:p>
            <a:endParaRPr lang="en-US"/>
          </a:p>
        </p:txBody>
      </p:sp>
      <p:sp>
        <p:nvSpPr>
          <p:cNvPr id="12" name="Text 10"/>
          <p:cNvSpPr/>
          <p:nvPr/>
        </p:nvSpPr>
        <p:spPr>
          <a:xfrm>
            <a:off x="960120" y="5532120"/>
            <a:ext cx="10058400" cy="384048"/>
          </a:xfrm>
          <a:prstGeom prst="rect">
            <a:avLst/>
          </a:prstGeom>
          <a:noFill/>
          <a:ln/>
        </p:spPr>
        <p:txBody>
          <a:bodyPr wrap="square" lIns="0" tIns="0" rIns="0" bIns="0" rtlCol="0" anchor="ctr"/>
          <a:lstStyle/>
          <a:p>
            <a:pPr marL="0" indent="0" algn="ctr">
              <a:buNone/>
            </a:pPr>
            <a:r>
              <a:rPr lang="en-US" sz="1550" b="1" dirty="0">
                <a:solidFill>
                  <a:srgbClr val="0F172A"/>
                </a:solidFill>
              </a:rPr>
              <a:t>Chapter 2 should prepare the reader to accept your methodology in Chapter 3.</a:t>
            </a:r>
            <a:endParaRPr lang="en-US" sz="155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Critical review, not paper-by-paper summaries</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A literature review should synthesize evidence.</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EDE9FE"/>
          </a:solidFill>
          <a:ln>
            <a:solidFill>
              <a:srgbClr val="EDE9FE"/>
            </a:solidFill>
          </a:ln>
        </p:spPr>
        <p:txBody>
          <a:bodyPr wrap="square" lIns="635" tIns="635" rIns="635" bIns="635" rtlCol="0" anchor="ctr"/>
          <a:lstStyle/>
          <a:p>
            <a:pPr marL="0" indent="0" algn="ctr">
              <a:buNone/>
            </a:pPr>
            <a:r>
              <a:rPr lang="en-US" sz="1000" b="1" dirty="0">
                <a:solidFill>
                  <a:srgbClr val="7C3AED"/>
                </a:solidFill>
              </a:rPr>
              <a:t>Chapter 2</a:t>
            </a:r>
            <a:endParaRPr lang="en-US" sz="1000" dirty="0"/>
          </a:p>
        </p:txBody>
      </p:sp>
      <p:sp>
        <p:nvSpPr>
          <p:cNvPr id="6" name="Text 4"/>
          <p:cNvSpPr/>
          <p:nvPr/>
        </p:nvSpPr>
        <p:spPr>
          <a:xfrm>
            <a:off x="822960" y="1417320"/>
            <a:ext cx="1828800" cy="320040"/>
          </a:xfrm>
          <a:prstGeom prst="rect">
            <a:avLst/>
          </a:prstGeom>
          <a:noFill/>
          <a:ln/>
        </p:spPr>
        <p:txBody>
          <a:bodyPr wrap="square" lIns="0" tIns="0" rIns="0" bIns="0" rtlCol="0" anchor="ctr"/>
          <a:lstStyle/>
          <a:p>
            <a:pPr marL="0" indent="0">
              <a:buNone/>
            </a:pPr>
            <a:r>
              <a:rPr lang="en-US" sz="1600" b="1" dirty="0">
                <a:solidFill>
                  <a:srgbClr val="DC2626"/>
                </a:solidFill>
              </a:rPr>
              <a:t>Avoid</a:t>
            </a:r>
            <a:endParaRPr lang="en-US" sz="1600" dirty="0"/>
          </a:p>
        </p:txBody>
      </p:sp>
      <p:sp>
        <p:nvSpPr>
          <p:cNvPr id="7" name="Text 5"/>
          <p:cNvSpPr/>
          <p:nvPr/>
        </p:nvSpPr>
        <p:spPr>
          <a:xfrm>
            <a:off x="822960" y="1874520"/>
            <a:ext cx="4846320" cy="960120"/>
          </a:xfrm>
          <a:prstGeom prst="rect">
            <a:avLst/>
          </a:prstGeom>
          <a:noFill/>
          <a:ln/>
        </p:spPr>
        <p:txBody>
          <a:bodyPr wrap="square" lIns="0" tIns="0" rIns="0" bIns="0" rtlCol="0" anchor="ctr">
            <a:normAutofit/>
          </a:bodyPr>
          <a:lstStyle/>
          <a:p>
            <a:pPr marL="0" indent="0">
              <a:buNone/>
            </a:pPr>
            <a:r>
              <a:rPr lang="en-US" sz="1600" i="1" dirty="0">
                <a:solidFill>
                  <a:srgbClr val="475569"/>
                </a:solidFill>
              </a:rPr>
              <a:t>“Author A said this. Author B said that. Author C used Random Forest.”</a:t>
            </a:r>
            <a:endParaRPr lang="en-US" sz="1600" dirty="0"/>
          </a:p>
        </p:txBody>
      </p:sp>
      <p:sp>
        <p:nvSpPr>
          <p:cNvPr id="8" name="Text 6"/>
          <p:cNvSpPr/>
          <p:nvPr/>
        </p:nvSpPr>
        <p:spPr>
          <a:xfrm>
            <a:off x="6400800" y="1417320"/>
            <a:ext cx="2103120" cy="320040"/>
          </a:xfrm>
          <a:prstGeom prst="rect">
            <a:avLst/>
          </a:prstGeom>
          <a:noFill/>
          <a:ln/>
        </p:spPr>
        <p:txBody>
          <a:bodyPr wrap="square" lIns="0" tIns="0" rIns="0" bIns="0" rtlCol="0" anchor="ctr"/>
          <a:lstStyle/>
          <a:p>
            <a:pPr marL="0" indent="0">
              <a:buNone/>
            </a:pPr>
            <a:r>
              <a:rPr lang="en-US" sz="1600" b="1" dirty="0">
                <a:solidFill>
                  <a:srgbClr val="16A34A"/>
                </a:solidFill>
              </a:rPr>
              <a:t>Use themes</a:t>
            </a:r>
            <a:endParaRPr lang="en-US" sz="1600" dirty="0"/>
          </a:p>
        </p:txBody>
      </p:sp>
      <p:sp>
        <p:nvSpPr>
          <p:cNvPr id="9" name="Text 7"/>
          <p:cNvSpPr/>
          <p:nvPr/>
        </p:nvSpPr>
        <p:spPr>
          <a:xfrm>
            <a:off x="6400800" y="1874520"/>
            <a:ext cx="4389120" cy="1463040"/>
          </a:xfrm>
          <a:prstGeom prst="rect">
            <a:avLst/>
          </a:prstGeom>
          <a:noFill/>
          <a:ln/>
        </p:spPr>
        <p:txBody>
          <a:bodyPr wrap="square" lIns="635" tIns="635" rIns="635" bIns="635" rtlCol="0" anchor="t">
            <a:normAutofit fontScale="92500" lnSpcReduction="20000"/>
          </a:bodyPr>
          <a:lstStyle/>
          <a:p>
            <a:r>
              <a:rPr lang="en-US" sz="1300" dirty="0">
                <a:solidFill>
                  <a:srgbClr val="475569"/>
                </a:solidFill>
              </a:rPr>
              <a:t>Existing systems
</a:t>
            </a:r>
            <a:endParaRPr lang="en-US" sz="1300" dirty="0"/>
          </a:p>
          <a:p>
            <a:r>
              <a:rPr lang="en-US" sz="1300" dirty="0">
                <a:solidFill>
                  <a:srgbClr val="475569"/>
                </a:solidFill>
              </a:rPr>
              <a:t>ML methods
</a:t>
            </a:r>
            <a:endParaRPr lang="en-US" sz="1300" dirty="0"/>
          </a:p>
          <a:p>
            <a:r>
              <a:rPr lang="en-US" sz="1300" dirty="0">
                <a:solidFill>
                  <a:srgbClr val="475569"/>
                </a:solidFill>
              </a:rPr>
              <a:t>Dataset limitations
</a:t>
            </a:r>
            <a:endParaRPr lang="en-US" sz="1300" dirty="0"/>
          </a:p>
          <a:p>
            <a:r>
              <a:rPr lang="en-US" sz="1300" dirty="0">
                <a:solidFill>
                  <a:srgbClr val="475569"/>
                </a:solidFill>
              </a:rPr>
              <a:t>Evaluation metrics
</a:t>
            </a:r>
            <a:endParaRPr lang="en-US" sz="1300" dirty="0"/>
          </a:p>
          <a:p>
            <a:r>
              <a:rPr lang="en-US" sz="1300" dirty="0">
                <a:solidFill>
                  <a:srgbClr val="475569"/>
                </a:solidFill>
              </a:rPr>
              <a:t>Ethics and deployment</a:t>
            </a:r>
            <a:endParaRPr lang="en-US" sz="1300" dirty="0"/>
          </a:p>
        </p:txBody>
      </p:sp>
      <p:sp>
        <p:nvSpPr>
          <p:cNvPr id="10" name="Text 8"/>
          <p:cNvSpPr/>
          <p:nvPr/>
        </p:nvSpPr>
        <p:spPr>
          <a:xfrm>
            <a:off x="1005840" y="4023360"/>
            <a:ext cx="101498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Strong synthesis example</a:t>
            </a:r>
            <a:endParaRPr lang="en-US" sz="1450" dirty="0"/>
          </a:p>
        </p:txBody>
      </p:sp>
      <p:sp>
        <p:nvSpPr>
          <p:cNvPr id="11" name="Text 9"/>
          <p:cNvSpPr/>
          <p:nvPr/>
        </p:nvSpPr>
        <p:spPr>
          <a:xfrm>
            <a:off x="1005840" y="4462272"/>
            <a:ext cx="10149840" cy="79552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“Several studies use tree-based models for tabular risk prediction, but many rely on accuracy even when the data is imbalanced. This project therefore reports macro F1 and minority-class recall.”</a:t>
            </a:r>
            <a:endParaRPr lang="en-US" sz="1160" dirty="0"/>
          </a:p>
        </p:txBody>
      </p:sp>
      <p:sp>
        <p:nvSpPr>
          <p:cNvPr id="12" name="Shape 10"/>
          <p:cNvSpPr/>
          <p:nvPr/>
        </p:nvSpPr>
        <p:spPr>
          <a:xfrm>
            <a:off x="1024128" y="4407408"/>
            <a:ext cx="10113264" cy="0"/>
          </a:xfrm>
          <a:prstGeom prst="line">
            <a:avLst/>
          </a:prstGeom>
          <a:noFill/>
          <a:ln w="27940">
            <a:solidFill>
              <a:srgbClr val="16A34A"/>
            </a:solidFill>
            <a:prstDash val="solid"/>
          </a:ln>
        </p:spPr>
        <p:txBody>
          <a:bodyPr/>
          <a:lstStyle/>
          <a:p>
            <a:endParaRPr lang="en-US"/>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Chapter 3: Methodology and System Design</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This chapter must make the project reproducible.</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CFCE7"/>
          </a:solidFill>
          <a:ln>
            <a:solidFill>
              <a:srgbClr val="DCFCE7"/>
            </a:solidFill>
          </a:ln>
        </p:spPr>
        <p:txBody>
          <a:bodyPr wrap="square" lIns="635" tIns="635" rIns="635" bIns="635" rtlCol="0" anchor="ctr"/>
          <a:lstStyle/>
          <a:p>
            <a:pPr marL="0" indent="0" algn="ctr">
              <a:buNone/>
            </a:pPr>
            <a:r>
              <a:rPr lang="en-US" sz="1000" b="1" dirty="0">
                <a:solidFill>
                  <a:srgbClr val="16A34A"/>
                </a:solidFill>
              </a:rPr>
              <a:t>Chapter 3</a:t>
            </a:r>
            <a:endParaRPr lang="en-US" sz="1000" dirty="0"/>
          </a:p>
        </p:txBody>
      </p:sp>
      <p:sp>
        <p:nvSpPr>
          <p:cNvPr id="6" name="Text 4"/>
          <p:cNvSpPr/>
          <p:nvPr/>
        </p:nvSpPr>
        <p:spPr>
          <a:xfrm>
            <a:off x="685800" y="1645920"/>
            <a:ext cx="1234440" cy="411480"/>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230" b="1" dirty="0">
                <a:solidFill>
                  <a:srgbClr val="0F172A"/>
                </a:solidFill>
              </a:rPr>
              <a:t>Data</a:t>
            </a:r>
            <a:endParaRPr lang="en-US" sz="1230" dirty="0"/>
          </a:p>
        </p:txBody>
      </p:sp>
      <p:sp>
        <p:nvSpPr>
          <p:cNvPr id="7" name="Text 5"/>
          <p:cNvSpPr/>
          <p:nvPr/>
        </p:nvSpPr>
        <p:spPr>
          <a:xfrm>
            <a:off x="2103120" y="1645920"/>
            <a:ext cx="1234440" cy="411480"/>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230" b="1" dirty="0">
                <a:solidFill>
                  <a:srgbClr val="0F172A"/>
                </a:solidFill>
              </a:rPr>
              <a:t>Target</a:t>
            </a:r>
            <a:endParaRPr lang="en-US" sz="1230" dirty="0"/>
          </a:p>
        </p:txBody>
      </p:sp>
      <p:sp>
        <p:nvSpPr>
          <p:cNvPr id="8" name="Text 6"/>
          <p:cNvSpPr/>
          <p:nvPr/>
        </p:nvSpPr>
        <p:spPr>
          <a:xfrm>
            <a:off x="3520440" y="1645920"/>
            <a:ext cx="1234440" cy="411480"/>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230" b="1" dirty="0">
                <a:solidFill>
                  <a:srgbClr val="0F172A"/>
                </a:solidFill>
              </a:rPr>
              <a:t>Features</a:t>
            </a:r>
            <a:endParaRPr lang="en-US" sz="1230" dirty="0"/>
          </a:p>
        </p:txBody>
      </p:sp>
      <p:sp>
        <p:nvSpPr>
          <p:cNvPr id="9" name="Text 7"/>
          <p:cNvSpPr/>
          <p:nvPr/>
        </p:nvSpPr>
        <p:spPr>
          <a:xfrm>
            <a:off x="4937760" y="1645920"/>
            <a:ext cx="1234440" cy="411480"/>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230" b="1" dirty="0">
                <a:solidFill>
                  <a:srgbClr val="0F172A"/>
                </a:solidFill>
              </a:rPr>
              <a:t>Split</a:t>
            </a:r>
            <a:endParaRPr lang="en-US" sz="1230" dirty="0"/>
          </a:p>
        </p:txBody>
      </p:sp>
      <p:sp>
        <p:nvSpPr>
          <p:cNvPr id="10" name="Text 8"/>
          <p:cNvSpPr/>
          <p:nvPr/>
        </p:nvSpPr>
        <p:spPr>
          <a:xfrm>
            <a:off x="6355080" y="1645920"/>
            <a:ext cx="1234440" cy="411480"/>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230" b="1" dirty="0">
                <a:solidFill>
                  <a:srgbClr val="0F172A"/>
                </a:solidFill>
              </a:rPr>
              <a:t>Baseline</a:t>
            </a:r>
            <a:endParaRPr lang="en-US" sz="1230" dirty="0"/>
          </a:p>
        </p:txBody>
      </p:sp>
      <p:sp>
        <p:nvSpPr>
          <p:cNvPr id="11" name="Text 9"/>
          <p:cNvSpPr/>
          <p:nvPr/>
        </p:nvSpPr>
        <p:spPr>
          <a:xfrm>
            <a:off x="7772400" y="1645920"/>
            <a:ext cx="1234440" cy="411480"/>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230" b="1" dirty="0">
                <a:solidFill>
                  <a:srgbClr val="0F172A"/>
                </a:solidFill>
              </a:rPr>
              <a:t>Models</a:t>
            </a:r>
            <a:endParaRPr lang="en-US" sz="1230" dirty="0"/>
          </a:p>
        </p:txBody>
      </p:sp>
      <p:sp>
        <p:nvSpPr>
          <p:cNvPr id="12" name="Text 10"/>
          <p:cNvSpPr/>
          <p:nvPr/>
        </p:nvSpPr>
        <p:spPr>
          <a:xfrm>
            <a:off x="9189720" y="1645920"/>
            <a:ext cx="1234440" cy="411480"/>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230" b="1" dirty="0">
                <a:solidFill>
                  <a:srgbClr val="0F172A"/>
                </a:solidFill>
              </a:rPr>
              <a:t>Metrics</a:t>
            </a:r>
            <a:endParaRPr lang="en-US" sz="1230" dirty="0"/>
          </a:p>
        </p:txBody>
      </p:sp>
      <p:sp>
        <p:nvSpPr>
          <p:cNvPr id="13" name="Text 11"/>
          <p:cNvSpPr/>
          <p:nvPr/>
        </p:nvSpPr>
        <p:spPr>
          <a:xfrm>
            <a:off x="10607040" y="1645920"/>
            <a:ext cx="1234440" cy="411480"/>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230" b="1" dirty="0">
                <a:solidFill>
                  <a:srgbClr val="0F172A"/>
                </a:solidFill>
              </a:rPr>
              <a:t>System</a:t>
            </a:r>
            <a:endParaRPr lang="en-US" sz="1230" dirty="0"/>
          </a:p>
        </p:txBody>
      </p:sp>
      <p:sp>
        <p:nvSpPr>
          <p:cNvPr id="14" name="Text 12"/>
          <p:cNvSpPr/>
          <p:nvPr/>
        </p:nvSpPr>
        <p:spPr>
          <a:xfrm>
            <a:off x="960120" y="2834640"/>
            <a:ext cx="1024128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What Chapter 3 must answer</a:t>
            </a:r>
            <a:endParaRPr lang="en-US" sz="1450" dirty="0"/>
          </a:p>
        </p:txBody>
      </p:sp>
      <p:sp>
        <p:nvSpPr>
          <p:cNvPr id="15" name="Text 13"/>
          <p:cNvSpPr/>
          <p:nvPr/>
        </p:nvSpPr>
        <p:spPr>
          <a:xfrm>
            <a:off x="960120" y="3273551"/>
            <a:ext cx="10241280" cy="2935224"/>
          </a:xfrm>
          <a:prstGeom prst="roundRect">
            <a:avLst/>
          </a:prstGeom>
          <a:solidFill>
            <a:srgbClr val="FFFFFF">
              <a:alpha val="0"/>
            </a:srgbClr>
          </a:solidFill>
          <a:ln>
            <a:solidFill>
              <a:srgbClr val="FFFFFF">
                <a:alpha val="0"/>
              </a:srgbClr>
            </a:solidFill>
          </a:ln>
        </p:spPr>
        <p:txBody>
          <a:bodyPr wrap="square" rtlCol="0" anchor="t">
            <a:noAutofit/>
          </a:bodyPr>
          <a:lstStyle/>
          <a:p>
            <a:pPr marL="0" indent="0">
              <a:buNone/>
            </a:pPr>
            <a:r>
              <a:rPr lang="en-US" sz="1200" dirty="0">
                <a:solidFill>
                  <a:srgbClr val="475569"/>
                </a:solidFill>
              </a:rPr>
              <a:t>What data is used?</a:t>
            </a:r>
          </a:p>
          <a:p>
            <a:pPr marL="0" indent="0">
              <a:buNone/>
            </a:pPr>
            <a:endParaRPr lang="en-US" sz="1200" dirty="0"/>
          </a:p>
          <a:p>
            <a:pPr marL="0" indent="0">
              <a:buNone/>
            </a:pPr>
            <a:r>
              <a:rPr lang="en-US" sz="1200" dirty="0">
                <a:solidFill>
                  <a:srgbClr val="475569"/>
                </a:solidFill>
              </a:rPr>
              <a:t>What is the target variable?</a:t>
            </a:r>
          </a:p>
          <a:p>
            <a:pPr marL="0" indent="0">
              <a:buNone/>
            </a:pPr>
            <a:endParaRPr lang="en-US" sz="1200" dirty="0"/>
          </a:p>
          <a:p>
            <a:pPr marL="0" indent="0">
              <a:buNone/>
            </a:pPr>
            <a:r>
              <a:rPr lang="en-US" sz="1200" dirty="0">
                <a:solidFill>
                  <a:srgbClr val="475569"/>
                </a:solidFill>
              </a:rPr>
              <a:t>How is the data split?</a:t>
            </a:r>
          </a:p>
          <a:p>
            <a:pPr marL="0" indent="0">
              <a:buNone/>
            </a:pPr>
            <a:endParaRPr lang="en-US" sz="1200" dirty="0"/>
          </a:p>
          <a:p>
            <a:pPr marL="0" indent="0">
              <a:buNone/>
            </a:pPr>
            <a:r>
              <a:rPr lang="en-US" sz="1200" dirty="0">
                <a:solidFill>
                  <a:srgbClr val="475569"/>
                </a:solidFill>
              </a:rPr>
              <a:t>What baseline is used?</a:t>
            </a:r>
          </a:p>
          <a:p>
            <a:pPr marL="0" indent="0">
              <a:buNone/>
            </a:pPr>
            <a:endParaRPr lang="en-US" sz="1200" dirty="0"/>
          </a:p>
          <a:p>
            <a:pPr marL="0" indent="0">
              <a:buNone/>
            </a:pPr>
            <a:r>
              <a:rPr lang="en-US" sz="1200" dirty="0">
                <a:solidFill>
                  <a:srgbClr val="475569"/>
                </a:solidFill>
              </a:rPr>
              <a:t>Which models are trained?</a:t>
            </a:r>
          </a:p>
          <a:p>
            <a:pPr marL="0" indent="0">
              <a:buNone/>
            </a:pPr>
            <a:endParaRPr lang="en-US" sz="1200" dirty="0"/>
          </a:p>
          <a:p>
            <a:pPr marL="0" indent="0">
              <a:buNone/>
            </a:pPr>
            <a:r>
              <a:rPr lang="en-US" sz="1200" dirty="0">
                <a:solidFill>
                  <a:srgbClr val="475569"/>
                </a:solidFill>
              </a:rPr>
              <a:t>How are results evaluated?</a:t>
            </a:r>
          </a:p>
          <a:p>
            <a:pPr marL="0" indent="0">
              <a:buNone/>
            </a:pPr>
            <a:endParaRPr lang="en-US" sz="1200" dirty="0"/>
          </a:p>
          <a:p>
            <a:pPr marL="0" indent="0">
              <a:buNone/>
            </a:pPr>
            <a:r>
              <a:rPr lang="en-US" sz="1200" dirty="0">
                <a:solidFill>
                  <a:srgbClr val="475569"/>
                </a:solidFill>
              </a:rPr>
              <a:t>What diagrams explain the system?</a:t>
            </a:r>
          </a:p>
          <a:p>
            <a:pPr marL="0" indent="0">
              <a:buNone/>
            </a:pPr>
            <a:endParaRPr lang="en-US" sz="1200" dirty="0"/>
          </a:p>
          <a:p>
            <a:pPr marL="0" indent="0">
              <a:buNone/>
            </a:pPr>
            <a:r>
              <a:rPr lang="en-US" sz="1200" dirty="0">
                <a:solidFill>
                  <a:srgbClr val="475569"/>
                </a:solidFill>
              </a:rPr>
              <a:t>What ethics risks are handled?</a:t>
            </a:r>
            <a:endParaRPr lang="en-US" sz="1200" dirty="0"/>
          </a:p>
        </p:txBody>
      </p:sp>
      <p:sp>
        <p:nvSpPr>
          <p:cNvPr id="16" name="Shape 14"/>
          <p:cNvSpPr/>
          <p:nvPr/>
        </p:nvSpPr>
        <p:spPr>
          <a:xfrm>
            <a:off x="978408" y="3218688"/>
            <a:ext cx="10204704" cy="0"/>
          </a:xfrm>
          <a:prstGeom prst="line">
            <a:avLst/>
          </a:prstGeom>
          <a:noFill/>
          <a:ln w="27940">
            <a:solidFill>
              <a:srgbClr val="16A34A"/>
            </a:solidFill>
            <a:prstDash val="solid"/>
          </a:ln>
        </p:spPr>
        <p:txBody>
          <a:bodyPr/>
          <a:lstStyle/>
          <a:p>
            <a:endParaRPr lang="en-US"/>
          </a:p>
        </p:txBody>
      </p:sp>
      <p:sp>
        <p:nvSpPr>
          <p:cNvPr id="17" name="Text 15"/>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Dataset and target variable</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If the data is vague, the ML project is weak.</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CFCE7"/>
          </a:solidFill>
          <a:ln>
            <a:solidFill>
              <a:srgbClr val="DCFCE7"/>
            </a:solidFill>
          </a:ln>
        </p:spPr>
        <p:txBody>
          <a:bodyPr wrap="square" lIns="635" tIns="635" rIns="635" bIns="635" rtlCol="0" anchor="ctr"/>
          <a:lstStyle/>
          <a:p>
            <a:pPr marL="0" indent="0" algn="ctr">
              <a:buNone/>
            </a:pPr>
            <a:r>
              <a:rPr lang="en-US" sz="1000" b="1" dirty="0">
                <a:solidFill>
                  <a:srgbClr val="16A34A"/>
                </a:solidFill>
              </a:rPr>
              <a:t>Chapter 3</a:t>
            </a:r>
            <a:endParaRPr lang="en-US" sz="1000" dirty="0"/>
          </a:p>
        </p:txBody>
      </p:sp>
      <p:sp>
        <p:nvSpPr>
          <p:cNvPr id="6" name="Text 4"/>
          <p:cNvSpPr/>
          <p:nvPr/>
        </p:nvSpPr>
        <p:spPr>
          <a:xfrm>
            <a:off x="685800" y="141732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Dataset description</a:t>
            </a:r>
            <a:endParaRPr lang="en-US" sz="1450" dirty="0"/>
          </a:p>
        </p:txBody>
      </p:sp>
      <p:sp>
        <p:nvSpPr>
          <p:cNvPr id="7" name="Text 5"/>
          <p:cNvSpPr/>
          <p:nvPr/>
        </p:nvSpPr>
        <p:spPr>
          <a:xfrm>
            <a:off x="685800" y="1856232"/>
            <a:ext cx="5120640" cy="33558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Name and source</a:t>
            </a:r>
            <a:endParaRPr lang="en-US" sz="1160" dirty="0"/>
          </a:p>
          <a:p>
            <a:pPr marL="0" indent="0">
              <a:buNone/>
            </a:pPr>
            <a:r>
              <a:rPr lang="en-US" sz="1160" dirty="0">
                <a:solidFill>
                  <a:srgbClr val="475569"/>
                </a:solidFill>
              </a:rPr>
              <a:t>Rows and columns</a:t>
            </a:r>
            <a:endParaRPr lang="en-US" sz="1160" dirty="0"/>
          </a:p>
          <a:p>
            <a:pPr marL="0" indent="0">
              <a:buNone/>
            </a:pPr>
            <a:r>
              <a:rPr lang="en-US" sz="1160" dirty="0">
                <a:solidFill>
                  <a:srgbClr val="475569"/>
                </a:solidFill>
              </a:rPr>
              <a:t>Time period</a:t>
            </a:r>
            <a:endParaRPr lang="en-US" sz="1160" dirty="0"/>
          </a:p>
          <a:p>
            <a:pPr marL="0" indent="0">
              <a:buNone/>
            </a:pPr>
            <a:r>
              <a:rPr lang="en-US" sz="1160" dirty="0">
                <a:solidFill>
                  <a:srgbClr val="475569"/>
                </a:solidFill>
              </a:rPr>
              <a:t>Features</a:t>
            </a:r>
            <a:endParaRPr lang="en-US" sz="1160" dirty="0"/>
          </a:p>
          <a:p>
            <a:pPr marL="0" indent="0">
              <a:buNone/>
            </a:pPr>
            <a:r>
              <a:rPr lang="en-US" sz="1160" dirty="0">
                <a:solidFill>
                  <a:srgbClr val="475569"/>
                </a:solidFill>
              </a:rPr>
              <a:t>Missing values</a:t>
            </a:r>
            <a:endParaRPr lang="en-US" sz="1160" dirty="0"/>
          </a:p>
          <a:p>
            <a:pPr marL="0" indent="0">
              <a:buNone/>
            </a:pPr>
            <a:r>
              <a:rPr lang="en-US" sz="1160" dirty="0">
                <a:solidFill>
                  <a:srgbClr val="475569"/>
                </a:solidFill>
              </a:rPr>
              <a:t>Class distribution</a:t>
            </a:r>
            <a:endParaRPr lang="en-US" sz="1160" dirty="0"/>
          </a:p>
          <a:p>
            <a:pPr marL="0" indent="0">
              <a:buNone/>
            </a:pPr>
            <a:r>
              <a:rPr lang="en-US" sz="1160" dirty="0">
                <a:solidFill>
                  <a:srgbClr val="475569"/>
                </a:solidFill>
              </a:rPr>
              <a:t>Real, simulated, synthetic, or mixed</a:t>
            </a:r>
            <a:endParaRPr lang="en-US" sz="1160" dirty="0"/>
          </a:p>
        </p:txBody>
      </p:sp>
      <p:sp>
        <p:nvSpPr>
          <p:cNvPr id="8" name="Shape 6"/>
          <p:cNvSpPr/>
          <p:nvPr/>
        </p:nvSpPr>
        <p:spPr>
          <a:xfrm>
            <a:off x="704088" y="1801368"/>
            <a:ext cx="5084064" cy="0"/>
          </a:xfrm>
          <a:prstGeom prst="line">
            <a:avLst/>
          </a:prstGeom>
          <a:noFill/>
          <a:ln w="27940">
            <a:solidFill>
              <a:srgbClr val="2563EB"/>
            </a:solidFill>
            <a:prstDash val="solid"/>
          </a:ln>
        </p:spPr>
        <p:txBody>
          <a:bodyPr/>
          <a:lstStyle/>
          <a:p>
            <a:endParaRPr lang="en-US"/>
          </a:p>
        </p:txBody>
      </p:sp>
      <p:sp>
        <p:nvSpPr>
          <p:cNvPr id="9" name="Text 7"/>
          <p:cNvSpPr/>
          <p:nvPr/>
        </p:nvSpPr>
        <p:spPr>
          <a:xfrm>
            <a:off x="6400800" y="1417320"/>
            <a:ext cx="512064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Target variable</a:t>
            </a:r>
            <a:endParaRPr lang="en-US" sz="1450" dirty="0"/>
          </a:p>
        </p:txBody>
      </p:sp>
      <p:sp>
        <p:nvSpPr>
          <p:cNvPr id="10" name="Text 8"/>
          <p:cNvSpPr/>
          <p:nvPr/>
        </p:nvSpPr>
        <p:spPr>
          <a:xfrm>
            <a:off x="6400800" y="1856232"/>
            <a:ext cx="5120640" cy="33558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What exactly is the model predicting?</a:t>
            </a:r>
            <a:endParaRPr lang="en-US" sz="1160" dirty="0"/>
          </a:p>
          <a:p>
            <a:pPr marL="0" indent="0">
              <a:buNone/>
            </a:pPr>
            <a:r>
              <a:rPr lang="en-US" sz="1160" dirty="0">
                <a:solidFill>
                  <a:srgbClr val="475569"/>
                </a:solidFill>
              </a:rPr>
              <a:t>How was the label created?</a:t>
            </a:r>
            <a:endParaRPr lang="en-US" sz="1160" dirty="0"/>
          </a:p>
          <a:p>
            <a:pPr marL="0" indent="0">
              <a:buNone/>
            </a:pPr>
            <a:r>
              <a:rPr lang="en-US" sz="1160" dirty="0">
                <a:solidFill>
                  <a:srgbClr val="475569"/>
                </a:solidFill>
              </a:rPr>
              <a:t>Is it available before prediction?</a:t>
            </a:r>
            <a:endParaRPr lang="en-US" sz="1160" dirty="0"/>
          </a:p>
          <a:p>
            <a:pPr marL="0" indent="0">
              <a:buNone/>
            </a:pPr>
            <a:r>
              <a:rPr lang="en-US" sz="1160" dirty="0">
                <a:solidFill>
                  <a:srgbClr val="475569"/>
                </a:solidFill>
              </a:rPr>
              <a:t>Could there be leakage?</a:t>
            </a:r>
            <a:endParaRPr lang="en-US" sz="1160" dirty="0"/>
          </a:p>
        </p:txBody>
      </p:sp>
      <p:sp>
        <p:nvSpPr>
          <p:cNvPr id="11" name="Shape 9"/>
          <p:cNvSpPr/>
          <p:nvPr/>
        </p:nvSpPr>
        <p:spPr>
          <a:xfrm>
            <a:off x="6419088" y="1801368"/>
            <a:ext cx="5084064" cy="0"/>
          </a:xfrm>
          <a:prstGeom prst="line">
            <a:avLst/>
          </a:prstGeom>
          <a:noFill/>
          <a:ln w="27940">
            <a:solidFill>
              <a:srgbClr val="DC2626"/>
            </a:solidFill>
            <a:prstDash val="solid"/>
          </a:ln>
        </p:spPr>
        <p:txBody>
          <a:bodyPr/>
          <a:lstStyle/>
          <a:p>
            <a:endParaRPr lang="en-US"/>
          </a:p>
        </p:txBody>
      </p:sp>
      <p:sp>
        <p:nvSpPr>
          <p:cNvPr id="12" name="Text 10"/>
          <p:cNvSpPr/>
          <p:nvPr/>
        </p:nvSpPr>
        <p:spPr>
          <a:xfrm>
            <a:off x="914400" y="5715000"/>
            <a:ext cx="10241280" cy="320040"/>
          </a:xfrm>
          <a:prstGeom prst="rect">
            <a:avLst/>
          </a:prstGeom>
          <a:noFill/>
          <a:ln/>
        </p:spPr>
        <p:txBody>
          <a:bodyPr wrap="square" lIns="0" tIns="0" rIns="0" bIns="0" rtlCol="0" anchor="ctr">
            <a:normAutofit/>
          </a:bodyPr>
          <a:lstStyle/>
          <a:p>
            <a:pPr marL="0" indent="0" algn="ctr">
              <a:buNone/>
            </a:pPr>
            <a:r>
              <a:rPr lang="en-US" sz="1450" b="1" dirty="0">
                <a:solidFill>
                  <a:srgbClr val="0F172A"/>
                </a:solidFill>
              </a:rPr>
              <a:t>Good: “The target variable is crash severity: slight, serious, or fatal.”</a:t>
            </a:r>
            <a:endParaRPr lang="en-US" sz="145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Model design, baseline, and metrics</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Your model must be compared fairly and evaluated with the right measures.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CFCE7"/>
          </a:solidFill>
          <a:ln>
            <a:solidFill>
              <a:srgbClr val="DCFCE7"/>
            </a:solidFill>
          </a:ln>
        </p:spPr>
        <p:txBody>
          <a:bodyPr wrap="square" lIns="635" tIns="635" rIns="635" bIns="635" rtlCol="0" anchor="ctr"/>
          <a:lstStyle/>
          <a:p>
            <a:pPr marL="0" indent="0" algn="ctr">
              <a:buNone/>
            </a:pPr>
            <a:r>
              <a:rPr lang="en-US" sz="1000" b="1" dirty="0">
                <a:solidFill>
                  <a:srgbClr val="16A34A"/>
                </a:solidFill>
              </a:rPr>
              <a:t>Chapter 3</a:t>
            </a:r>
            <a:endParaRPr lang="en-US" sz="1000" dirty="0"/>
          </a:p>
        </p:txBody>
      </p:sp>
      <p:sp>
        <p:nvSpPr>
          <p:cNvPr id="6" name="Text 4"/>
          <p:cNvSpPr/>
          <p:nvPr/>
        </p:nvSpPr>
        <p:spPr>
          <a:xfrm>
            <a:off x="685800" y="1417320"/>
            <a:ext cx="34290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Model choice</a:t>
            </a:r>
            <a:endParaRPr lang="en-US" sz="1450" dirty="0"/>
          </a:p>
        </p:txBody>
      </p:sp>
      <p:sp>
        <p:nvSpPr>
          <p:cNvPr id="7" name="Text 5"/>
          <p:cNvSpPr/>
          <p:nvPr/>
        </p:nvSpPr>
        <p:spPr>
          <a:xfrm>
            <a:off x="685800" y="1856232"/>
            <a:ext cx="3429000" cy="20756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200" dirty="0">
                <a:solidFill>
                  <a:srgbClr val="475569"/>
                </a:solidFill>
              </a:rPr>
              <a:t>Explain why the model fits the data type.</a:t>
            </a:r>
            <a:endParaRPr lang="en-US" sz="1200" dirty="0"/>
          </a:p>
          <a:p>
            <a:pPr marL="0" indent="0">
              <a:buNone/>
            </a:pPr>
            <a:r>
              <a:rPr lang="en-US" sz="1200" dirty="0">
                <a:solidFill>
                  <a:srgbClr val="475569"/>
                </a:solidFill>
              </a:rPr>
              <a:t>Tabular, text, image, time-series, geospatial, or sequence data require different choices.</a:t>
            </a:r>
            <a:endParaRPr lang="en-US" sz="1200" dirty="0"/>
          </a:p>
        </p:txBody>
      </p:sp>
      <p:sp>
        <p:nvSpPr>
          <p:cNvPr id="8" name="Shape 6"/>
          <p:cNvSpPr/>
          <p:nvPr/>
        </p:nvSpPr>
        <p:spPr>
          <a:xfrm>
            <a:off x="704088" y="1801368"/>
            <a:ext cx="3392424" cy="0"/>
          </a:xfrm>
          <a:prstGeom prst="line">
            <a:avLst/>
          </a:prstGeom>
          <a:noFill/>
          <a:ln w="27940">
            <a:solidFill>
              <a:srgbClr val="2563EB"/>
            </a:solidFill>
            <a:prstDash val="solid"/>
          </a:ln>
        </p:spPr>
        <p:txBody>
          <a:bodyPr/>
          <a:lstStyle/>
          <a:p>
            <a:endParaRPr lang="en-US"/>
          </a:p>
        </p:txBody>
      </p:sp>
      <p:sp>
        <p:nvSpPr>
          <p:cNvPr id="9" name="Text 7"/>
          <p:cNvSpPr/>
          <p:nvPr/>
        </p:nvSpPr>
        <p:spPr>
          <a:xfrm>
            <a:off x="4389120" y="1417320"/>
            <a:ext cx="34290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Baseline</a:t>
            </a:r>
            <a:endParaRPr lang="en-US" sz="1450" dirty="0"/>
          </a:p>
        </p:txBody>
      </p:sp>
      <p:sp>
        <p:nvSpPr>
          <p:cNvPr id="10" name="Text 8"/>
          <p:cNvSpPr/>
          <p:nvPr/>
        </p:nvSpPr>
        <p:spPr>
          <a:xfrm>
            <a:off x="4389120" y="1856232"/>
            <a:ext cx="3429000" cy="20756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200" dirty="0">
                <a:solidFill>
                  <a:srgbClr val="475569"/>
                </a:solidFill>
              </a:rPr>
              <a:t>A baseline answers: compared to what?</a:t>
            </a:r>
            <a:endParaRPr lang="en-US" sz="1200" dirty="0"/>
          </a:p>
          <a:p>
            <a:pPr marL="0" indent="0">
              <a:buNone/>
            </a:pPr>
            <a:r>
              <a:rPr lang="en-US" sz="1200" dirty="0">
                <a:solidFill>
                  <a:srgbClr val="475569"/>
                </a:solidFill>
              </a:rPr>
              <a:t>Examples: majority class, rule threshold, logistic regression, moving average.</a:t>
            </a:r>
            <a:endParaRPr lang="en-US" sz="1200" dirty="0"/>
          </a:p>
        </p:txBody>
      </p:sp>
      <p:sp>
        <p:nvSpPr>
          <p:cNvPr id="11" name="Shape 9"/>
          <p:cNvSpPr/>
          <p:nvPr/>
        </p:nvSpPr>
        <p:spPr>
          <a:xfrm>
            <a:off x="4407408" y="1801368"/>
            <a:ext cx="3392424" cy="0"/>
          </a:xfrm>
          <a:prstGeom prst="line">
            <a:avLst/>
          </a:prstGeom>
          <a:noFill/>
          <a:ln w="27940">
            <a:solidFill>
              <a:srgbClr val="F59E0B"/>
            </a:solidFill>
            <a:prstDash val="solid"/>
          </a:ln>
        </p:spPr>
        <p:txBody>
          <a:bodyPr/>
          <a:lstStyle/>
          <a:p>
            <a:endParaRPr lang="en-US"/>
          </a:p>
        </p:txBody>
      </p:sp>
      <p:sp>
        <p:nvSpPr>
          <p:cNvPr id="12" name="Text 10"/>
          <p:cNvSpPr/>
          <p:nvPr/>
        </p:nvSpPr>
        <p:spPr>
          <a:xfrm>
            <a:off x="8092440" y="1417320"/>
            <a:ext cx="34290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Metrics</a:t>
            </a:r>
            <a:endParaRPr lang="en-US" sz="1450" dirty="0"/>
          </a:p>
        </p:txBody>
      </p:sp>
      <p:sp>
        <p:nvSpPr>
          <p:cNvPr id="13" name="Text 11"/>
          <p:cNvSpPr/>
          <p:nvPr/>
        </p:nvSpPr>
        <p:spPr>
          <a:xfrm>
            <a:off x="8092440" y="1856232"/>
            <a:ext cx="3429000" cy="20756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200" dirty="0">
                <a:solidFill>
                  <a:srgbClr val="475569"/>
                </a:solidFill>
              </a:rPr>
              <a:t>Choose metrics that match the task and risk.</a:t>
            </a:r>
            <a:endParaRPr lang="en-US" sz="1200" dirty="0"/>
          </a:p>
          <a:p>
            <a:pPr marL="0" indent="0">
              <a:buNone/>
            </a:pPr>
            <a:r>
              <a:rPr lang="en-US" sz="1200" dirty="0">
                <a:solidFill>
                  <a:srgbClr val="475569"/>
                </a:solidFill>
              </a:rPr>
              <a:t>For imbalance, report macro F1, balanced accuracy, recall, and confusion matrix.</a:t>
            </a:r>
            <a:endParaRPr lang="en-US" sz="1200" dirty="0"/>
          </a:p>
        </p:txBody>
      </p:sp>
      <p:sp>
        <p:nvSpPr>
          <p:cNvPr id="14" name="Shape 12"/>
          <p:cNvSpPr/>
          <p:nvPr/>
        </p:nvSpPr>
        <p:spPr>
          <a:xfrm>
            <a:off x="8110728" y="1801368"/>
            <a:ext cx="3392424" cy="0"/>
          </a:xfrm>
          <a:prstGeom prst="line">
            <a:avLst/>
          </a:prstGeom>
          <a:noFill/>
          <a:ln w="27940">
            <a:solidFill>
              <a:srgbClr val="16A34A"/>
            </a:solidFill>
            <a:prstDash val="solid"/>
          </a:ln>
        </p:spPr>
        <p:txBody>
          <a:bodyPr/>
          <a:lstStyle/>
          <a:p>
            <a:endParaRPr lang="en-US"/>
          </a:p>
        </p:txBody>
      </p:sp>
      <p:sp>
        <p:nvSpPr>
          <p:cNvPr id="15" name="Text 13"/>
          <p:cNvSpPr/>
          <p:nvPr/>
        </p:nvSpPr>
        <p:spPr>
          <a:xfrm>
            <a:off x="960120" y="4937760"/>
            <a:ext cx="10149840" cy="411480"/>
          </a:xfrm>
          <a:prstGeom prst="rect">
            <a:avLst/>
          </a:prstGeom>
          <a:noFill/>
          <a:ln/>
        </p:spPr>
        <p:txBody>
          <a:bodyPr wrap="square" lIns="0" tIns="0" rIns="0" bIns="0" rtlCol="0" anchor="ctr"/>
          <a:lstStyle/>
          <a:p>
            <a:pPr marL="0" indent="0" algn="ctr">
              <a:buNone/>
            </a:pPr>
            <a:r>
              <a:rPr lang="en-US" sz="1600" b="1" dirty="0">
                <a:solidFill>
                  <a:srgbClr val="DC2626"/>
                </a:solidFill>
              </a:rPr>
              <a:t>Important: high accuracy can be misleading when the majority class dominates.</a:t>
            </a:r>
            <a:endParaRPr lang="en-US" sz="1600" dirty="0"/>
          </a:p>
        </p:txBody>
      </p:sp>
      <p:sp>
        <p:nvSpPr>
          <p:cNvPr id="16" name="Text 14"/>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System design and ethics</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The diagrams and ethics section must match the actual system.</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DCFCE7"/>
          </a:solidFill>
          <a:ln>
            <a:solidFill>
              <a:srgbClr val="DCFCE7"/>
            </a:solidFill>
          </a:ln>
        </p:spPr>
        <p:txBody>
          <a:bodyPr wrap="square" lIns="635" tIns="635" rIns="635" bIns="635" rtlCol="0" anchor="ctr"/>
          <a:lstStyle/>
          <a:p>
            <a:pPr marL="0" indent="0" algn="ctr">
              <a:buNone/>
            </a:pPr>
            <a:r>
              <a:rPr lang="en-US" sz="1000" b="1" dirty="0">
                <a:solidFill>
                  <a:srgbClr val="16A34A"/>
                </a:solidFill>
              </a:rPr>
              <a:t>Chapter 3</a:t>
            </a:r>
            <a:endParaRPr lang="en-US" sz="1000" dirty="0"/>
          </a:p>
        </p:txBody>
      </p:sp>
      <p:sp>
        <p:nvSpPr>
          <p:cNvPr id="6" name="Text 4"/>
          <p:cNvSpPr/>
          <p:nvPr/>
        </p:nvSpPr>
        <p:spPr>
          <a:xfrm>
            <a:off x="685800" y="1417320"/>
            <a:ext cx="48463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Useful diagrams</a:t>
            </a:r>
            <a:endParaRPr lang="en-US" sz="1450" dirty="0"/>
          </a:p>
        </p:txBody>
      </p:sp>
      <p:sp>
        <p:nvSpPr>
          <p:cNvPr id="7" name="Text 5"/>
          <p:cNvSpPr/>
          <p:nvPr/>
        </p:nvSpPr>
        <p:spPr>
          <a:xfrm>
            <a:off x="685800" y="1856232"/>
            <a:ext cx="4846320" cy="32644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ML pipeline diagram</a:t>
            </a:r>
          </a:p>
          <a:p>
            <a:pPr marL="0" indent="0">
              <a:buNone/>
            </a:pPr>
            <a:endParaRPr lang="en-US" sz="1400" dirty="0"/>
          </a:p>
          <a:p>
            <a:pPr marL="0" indent="0">
              <a:buNone/>
            </a:pPr>
            <a:r>
              <a:rPr lang="en-US" sz="1400" dirty="0">
                <a:solidFill>
                  <a:srgbClr val="475569"/>
                </a:solidFill>
              </a:rPr>
              <a:t>System architecture</a:t>
            </a:r>
          </a:p>
          <a:p>
            <a:pPr marL="0" indent="0">
              <a:buNone/>
            </a:pPr>
            <a:endParaRPr lang="en-US" sz="1400" dirty="0"/>
          </a:p>
          <a:p>
            <a:pPr marL="0" indent="0">
              <a:buNone/>
            </a:pPr>
            <a:r>
              <a:rPr lang="en-US" sz="1400" dirty="0">
                <a:solidFill>
                  <a:srgbClr val="475569"/>
                </a:solidFill>
              </a:rPr>
              <a:t>Use case diagram</a:t>
            </a:r>
          </a:p>
          <a:p>
            <a:pPr marL="0" indent="0">
              <a:buNone/>
            </a:pPr>
            <a:endParaRPr lang="en-US" sz="1400" dirty="0"/>
          </a:p>
          <a:p>
            <a:pPr marL="0" indent="0">
              <a:buNone/>
            </a:pPr>
            <a:r>
              <a:rPr lang="en-US" sz="1400" dirty="0">
                <a:solidFill>
                  <a:srgbClr val="475569"/>
                </a:solidFill>
              </a:rPr>
              <a:t>Class diagram</a:t>
            </a:r>
          </a:p>
          <a:p>
            <a:pPr marL="0" indent="0">
              <a:buNone/>
            </a:pPr>
            <a:endParaRPr lang="en-US" sz="1400" dirty="0"/>
          </a:p>
          <a:p>
            <a:pPr marL="0" indent="0">
              <a:buNone/>
            </a:pPr>
            <a:r>
              <a:rPr lang="en-US" sz="1400" dirty="0">
                <a:solidFill>
                  <a:srgbClr val="475569"/>
                </a:solidFill>
              </a:rPr>
              <a:t>ERD or database schema</a:t>
            </a:r>
          </a:p>
          <a:p>
            <a:pPr marL="0" indent="0">
              <a:buNone/>
            </a:pPr>
            <a:endParaRPr lang="en-US" sz="1400" dirty="0"/>
          </a:p>
          <a:p>
            <a:pPr marL="0" indent="0">
              <a:buNone/>
            </a:pPr>
            <a:r>
              <a:rPr lang="en-US" sz="1400" dirty="0">
                <a:solidFill>
                  <a:srgbClr val="475569"/>
                </a:solidFill>
              </a:rPr>
              <a:t>Data flow diagram</a:t>
            </a:r>
            <a:endParaRPr lang="en-US" sz="1400" dirty="0"/>
          </a:p>
        </p:txBody>
      </p:sp>
      <p:sp>
        <p:nvSpPr>
          <p:cNvPr id="8" name="Shape 6"/>
          <p:cNvSpPr/>
          <p:nvPr/>
        </p:nvSpPr>
        <p:spPr>
          <a:xfrm>
            <a:off x="704088" y="1801368"/>
            <a:ext cx="4809744" cy="0"/>
          </a:xfrm>
          <a:prstGeom prst="line">
            <a:avLst/>
          </a:prstGeom>
          <a:noFill/>
          <a:ln w="27940">
            <a:solidFill>
              <a:srgbClr val="7C3AED"/>
            </a:solidFill>
            <a:prstDash val="solid"/>
          </a:ln>
        </p:spPr>
        <p:txBody>
          <a:bodyPr/>
          <a:lstStyle/>
          <a:p>
            <a:endParaRPr lang="en-US"/>
          </a:p>
        </p:txBody>
      </p:sp>
      <p:sp>
        <p:nvSpPr>
          <p:cNvPr id="9" name="Text 7"/>
          <p:cNvSpPr/>
          <p:nvPr/>
        </p:nvSpPr>
        <p:spPr>
          <a:xfrm>
            <a:off x="6629400" y="1417320"/>
            <a:ext cx="48463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Ethics must cover</a:t>
            </a:r>
            <a:endParaRPr lang="en-US" sz="1450" dirty="0"/>
          </a:p>
        </p:txBody>
      </p:sp>
      <p:sp>
        <p:nvSpPr>
          <p:cNvPr id="10" name="Text 8"/>
          <p:cNvSpPr/>
          <p:nvPr/>
        </p:nvSpPr>
        <p:spPr>
          <a:xfrm>
            <a:off x="6629400" y="1856232"/>
            <a:ext cx="4846320" cy="32644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Privacy and consent</a:t>
            </a:r>
          </a:p>
          <a:p>
            <a:pPr marL="0" indent="0">
              <a:buNone/>
            </a:pPr>
            <a:endParaRPr lang="en-US" sz="1400" dirty="0"/>
          </a:p>
          <a:p>
            <a:pPr marL="0" indent="0">
              <a:buNone/>
            </a:pPr>
            <a:r>
              <a:rPr lang="en-US" sz="1400" dirty="0">
                <a:solidFill>
                  <a:srgbClr val="475569"/>
                </a:solidFill>
              </a:rPr>
              <a:t>Sensitive data</a:t>
            </a:r>
          </a:p>
          <a:p>
            <a:pPr marL="0" indent="0">
              <a:buNone/>
            </a:pPr>
            <a:endParaRPr lang="en-US" sz="1400" dirty="0"/>
          </a:p>
          <a:p>
            <a:pPr marL="0" indent="0">
              <a:buNone/>
            </a:pPr>
            <a:r>
              <a:rPr lang="en-US" sz="1400" dirty="0">
                <a:solidFill>
                  <a:srgbClr val="475569"/>
                </a:solidFill>
              </a:rPr>
              <a:t>Bias and fairness</a:t>
            </a:r>
          </a:p>
          <a:p>
            <a:pPr marL="0" indent="0">
              <a:buNone/>
            </a:pPr>
            <a:endParaRPr lang="en-US" sz="1400" dirty="0"/>
          </a:p>
          <a:p>
            <a:pPr marL="0" indent="0">
              <a:buNone/>
            </a:pPr>
            <a:r>
              <a:rPr lang="en-US" sz="1400" dirty="0">
                <a:solidFill>
                  <a:srgbClr val="475569"/>
                </a:solidFill>
              </a:rPr>
              <a:t>Model misuse</a:t>
            </a:r>
          </a:p>
          <a:p>
            <a:pPr marL="0" indent="0">
              <a:buNone/>
            </a:pPr>
            <a:endParaRPr lang="en-US" sz="1400" dirty="0"/>
          </a:p>
          <a:p>
            <a:pPr marL="0" indent="0">
              <a:buNone/>
            </a:pPr>
            <a:r>
              <a:rPr lang="en-US" sz="1400" dirty="0">
                <a:solidFill>
                  <a:srgbClr val="475569"/>
                </a:solidFill>
              </a:rPr>
              <a:t>Safety disclaimers</a:t>
            </a:r>
          </a:p>
          <a:p>
            <a:pPr marL="0" indent="0">
              <a:buNone/>
            </a:pPr>
            <a:endParaRPr lang="en-US" sz="1400" dirty="0"/>
          </a:p>
          <a:p>
            <a:pPr marL="0" indent="0">
              <a:buNone/>
            </a:pPr>
            <a:r>
              <a:rPr lang="en-US" sz="1400" dirty="0">
                <a:solidFill>
                  <a:srgbClr val="475569"/>
                </a:solidFill>
              </a:rPr>
              <a:t>Human-in-the-loop review</a:t>
            </a:r>
          </a:p>
          <a:p>
            <a:pPr marL="0" indent="0">
              <a:buNone/>
            </a:pPr>
            <a:endParaRPr lang="en-US" sz="1400" dirty="0"/>
          </a:p>
          <a:p>
            <a:pPr marL="0" indent="0">
              <a:buNone/>
            </a:pPr>
            <a:r>
              <a:rPr lang="en-US" sz="1400" dirty="0">
                <a:solidFill>
                  <a:srgbClr val="475569"/>
                </a:solidFill>
              </a:rPr>
              <a:t>Clear limitations</a:t>
            </a:r>
            <a:endParaRPr lang="en-US" sz="1400" dirty="0"/>
          </a:p>
        </p:txBody>
      </p:sp>
      <p:sp>
        <p:nvSpPr>
          <p:cNvPr id="11" name="Shape 9"/>
          <p:cNvSpPr/>
          <p:nvPr/>
        </p:nvSpPr>
        <p:spPr>
          <a:xfrm>
            <a:off x="6647688" y="1801368"/>
            <a:ext cx="4809744" cy="0"/>
          </a:xfrm>
          <a:prstGeom prst="line">
            <a:avLst/>
          </a:prstGeom>
          <a:noFill/>
          <a:ln w="27940">
            <a:solidFill>
              <a:srgbClr val="DC2626"/>
            </a:solidFill>
            <a:prstDash val="solid"/>
          </a:ln>
        </p:spPr>
        <p:txBody>
          <a:bodyPr/>
          <a:lstStyle/>
          <a:p>
            <a:endParaRPr lang="en-US"/>
          </a:p>
        </p:txBody>
      </p:sp>
      <p:sp>
        <p:nvSpPr>
          <p:cNvPr id="12" name="Text 10"/>
          <p:cNvSpPr/>
          <p:nvPr/>
        </p:nvSpPr>
        <p:spPr>
          <a:xfrm>
            <a:off x="914400" y="5623560"/>
            <a:ext cx="10287000" cy="411480"/>
          </a:xfrm>
          <a:prstGeom prst="rect">
            <a:avLst/>
          </a:prstGeom>
          <a:noFill/>
          <a:ln/>
        </p:spPr>
        <p:txBody>
          <a:bodyPr wrap="square" lIns="0" tIns="0" rIns="0" bIns="0" rtlCol="0" anchor="ctr">
            <a:normAutofit/>
          </a:bodyPr>
          <a:lstStyle/>
          <a:p>
            <a:pPr marL="0" indent="0" algn="ctr">
              <a:buNone/>
            </a:pPr>
            <a:r>
              <a:rPr lang="en-US" sz="1450" b="1" dirty="0">
                <a:solidFill>
                  <a:srgbClr val="0F172A"/>
                </a:solidFill>
              </a:rPr>
              <a:t>If your diagram shows login, profiles, health records, or risk scores, your ethics section must address that data.</a:t>
            </a:r>
            <a:endParaRPr lang="en-US" sz="145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Chapter 4: Implementation, Results, and Discussion</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This chapter shows what was actually built and what evidence was obtained.</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FEF3C7"/>
          </a:solidFill>
          <a:ln>
            <a:solidFill>
              <a:srgbClr val="FEF3C7"/>
            </a:solidFill>
          </a:ln>
        </p:spPr>
        <p:txBody>
          <a:bodyPr wrap="square" lIns="635" tIns="635" rIns="635" bIns="635" rtlCol="0" anchor="ctr"/>
          <a:lstStyle/>
          <a:p>
            <a:pPr marL="0" indent="0" algn="ctr">
              <a:buNone/>
            </a:pPr>
            <a:r>
              <a:rPr lang="en-US" sz="1000" b="1" dirty="0">
                <a:solidFill>
                  <a:srgbClr val="F59E0B"/>
                </a:solidFill>
              </a:rPr>
              <a:t>Chapter 4</a:t>
            </a:r>
            <a:endParaRPr lang="en-US" sz="1000" dirty="0"/>
          </a:p>
        </p:txBody>
      </p:sp>
      <p:sp>
        <p:nvSpPr>
          <p:cNvPr id="6" name="Text 4"/>
          <p:cNvSpPr/>
          <p:nvPr/>
        </p:nvSpPr>
        <p:spPr>
          <a:xfrm>
            <a:off x="731520" y="1554480"/>
            <a:ext cx="25146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Implementation</a:t>
            </a:r>
            <a:endParaRPr lang="en-US" sz="1450" dirty="0"/>
          </a:p>
        </p:txBody>
      </p:sp>
      <p:sp>
        <p:nvSpPr>
          <p:cNvPr id="7" name="Text 5"/>
          <p:cNvSpPr/>
          <p:nvPr/>
        </p:nvSpPr>
        <p:spPr>
          <a:xfrm>
            <a:off x="731520" y="1993392"/>
            <a:ext cx="2514600" cy="17556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tools, libraries, API, database, prototype</a:t>
            </a:r>
            <a:endParaRPr lang="en-US" sz="1160" dirty="0"/>
          </a:p>
        </p:txBody>
      </p:sp>
      <p:sp>
        <p:nvSpPr>
          <p:cNvPr id="8" name="Shape 6"/>
          <p:cNvSpPr/>
          <p:nvPr/>
        </p:nvSpPr>
        <p:spPr>
          <a:xfrm>
            <a:off x="749808" y="1938528"/>
            <a:ext cx="2478024" cy="0"/>
          </a:xfrm>
          <a:prstGeom prst="line">
            <a:avLst/>
          </a:prstGeom>
          <a:noFill/>
          <a:ln w="27940">
            <a:solidFill>
              <a:srgbClr val="2563EB"/>
            </a:solidFill>
            <a:prstDash val="solid"/>
          </a:ln>
        </p:spPr>
        <p:txBody>
          <a:bodyPr/>
          <a:lstStyle/>
          <a:p>
            <a:endParaRPr lang="en-US"/>
          </a:p>
        </p:txBody>
      </p:sp>
      <p:sp>
        <p:nvSpPr>
          <p:cNvPr id="9" name="Text 7"/>
          <p:cNvSpPr/>
          <p:nvPr/>
        </p:nvSpPr>
        <p:spPr>
          <a:xfrm>
            <a:off x="3520440" y="1554480"/>
            <a:ext cx="25146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Data results</a:t>
            </a:r>
            <a:endParaRPr lang="en-US" sz="1450" dirty="0"/>
          </a:p>
        </p:txBody>
      </p:sp>
      <p:sp>
        <p:nvSpPr>
          <p:cNvPr id="10" name="Text 8"/>
          <p:cNvSpPr/>
          <p:nvPr/>
        </p:nvSpPr>
        <p:spPr>
          <a:xfrm>
            <a:off x="3520440" y="1993392"/>
            <a:ext cx="2514600" cy="17556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cleaning, missing values, class distribution</a:t>
            </a:r>
            <a:endParaRPr lang="en-US" sz="1160" dirty="0"/>
          </a:p>
        </p:txBody>
      </p:sp>
      <p:sp>
        <p:nvSpPr>
          <p:cNvPr id="11" name="Shape 9"/>
          <p:cNvSpPr/>
          <p:nvPr/>
        </p:nvSpPr>
        <p:spPr>
          <a:xfrm>
            <a:off x="3538728" y="1938528"/>
            <a:ext cx="2478024" cy="0"/>
          </a:xfrm>
          <a:prstGeom prst="line">
            <a:avLst/>
          </a:prstGeom>
          <a:noFill/>
          <a:ln w="27940">
            <a:solidFill>
              <a:srgbClr val="16A34A"/>
            </a:solidFill>
            <a:prstDash val="solid"/>
          </a:ln>
        </p:spPr>
        <p:txBody>
          <a:bodyPr/>
          <a:lstStyle/>
          <a:p>
            <a:endParaRPr lang="en-US"/>
          </a:p>
        </p:txBody>
      </p:sp>
      <p:sp>
        <p:nvSpPr>
          <p:cNvPr id="12" name="Text 10"/>
          <p:cNvSpPr/>
          <p:nvPr/>
        </p:nvSpPr>
        <p:spPr>
          <a:xfrm>
            <a:off x="6309360" y="1554480"/>
            <a:ext cx="25146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Model results</a:t>
            </a:r>
            <a:endParaRPr lang="en-US" sz="1450" dirty="0"/>
          </a:p>
        </p:txBody>
      </p:sp>
      <p:sp>
        <p:nvSpPr>
          <p:cNvPr id="13" name="Text 11"/>
          <p:cNvSpPr/>
          <p:nvPr/>
        </p:nvSpPr>
        <p:spPr>
          <a:xfrm>
            <a:off x="6309360" y="1993392"/>
            <a:ext cx="2514600" cy="17556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baseline comparison, metrics, confusion matrix</a:t>
            </a:r>
            <a:endParaRPr lang="en-US" sz="1160" dirty="0"/>
          </a:p>
        </p:txBody>
      </p:sp>
      <p:sp>
        <p:nvSpPr>
          <p:cNvPr id="14" name="Shape 12"/>
          <p:cNvSpPr/>
          <p:nvPr/>
        </p:nvSpPr>
        <p:spPr>
          <a:xfrm>
            <a:off x="6327648" y="1938528"/>
            <a:ext cx="2478024" cy="0"/>
          </a:xfrm>
          <a:prstGeom prst="line">
            <a:avLst/>
          </a:prstGeom>
          <a:noFill/>
          <a:ln w="27940">
            <a:solidFill>
              <a:srgbClr val="F59E0B"/>
            </a:solidFill>
            <a:prstDash val="solid"/>
          </a:ln>
        </p:spPr>
        <p:txBody>
          <a:bodyPr/>
          <a:lstStyle/>
          <a:p>
            <a:endParaRPr lang="en-US"/>
          </a:p>
        </p:txBody>
      </p:sp>
      <p:sp>
        <p:nvSpPr>
          <p:cNvPr id="15" name="Text 13"/>
          <p:cNvSpPr/>
          <p:nvPr/>
        </p:nvSpPr>
        <p:spPr>
          <a:xfrm>
            <a:off x="9098280" y="1554480"/>
            <a:ext cx="251460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Discussion</a:t>
            </a:r>
            <a:endParaRPr lang="en-US" sz="1450" dirty="0"/>
          </a:p>
        </p:txBody>
      </p:sp>
      <p:sp>
        <p:nvSpPr>
          <p:cNvPr id="16" name="Text 14"/>
          <p:cNvSpPr/>
          <p:nvPr/>
        </p:nvSpPr>
        <p:spPr>
          <a:xfrm>
            <a:off x="9098280" y="1993392"/>
            <a:ext cx="2514600" cy="175564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meaning, errors, limitations, link to objectives</a:t>
            </a:r>
            <a:endParaRPr lang="en-US" sz="1160" dirty="0"/>
          </a:p>
        </p:txBody>
      </p:sp>
      <p:sp>
        <p:nvSpPr>
          <p:cNvPr id="17" name="Shape 15"/>
          <p:cNvSpPr/>
          <p:nvPr/>
        </p:nvSpPr>
        <p:spPr>
          <a:xfrm>
            <a:off x="9116568" y="1938528"/>
            <a:ext cx="2478024" cy="0"/>
          </a:xfrm>
          <a:prstGeom prst="line">
            <a:avLst/>
          </a:prstGeom>
          <a:noFill/>
          <a:ln w="27940">
            <a:solidFill>
              <a:srgbClr val="7C3AED"/>
            </a:solidFill>
            <a:prstDash val="solid"/>
          </a:ln>
        </p:spPr>
        <p:txBody>
          <a:bodyPr/>
          <a:lstStyle/>
          <a:p>
            <a:endParaRPr lang="en-US"/>
          </a:p>
        </p:txBody>
      </p:sp>
      <p:sp>
        <p:nvSpPr>
          <p:cNvPr id="18" name="Text 16"/>
          <p:cNvSpPr/>
          <p:nvPr/>
        </p:nvSpPr>
        <p:spPr>
          <a:xfrm>
            <a:off x="914400" y="4983480"/>
            <a:ext cx="10241280" cy="548640"/>
          </a:xfrm>
          <a:prstGeom prst="rect">
            <a:avLst/>
          </a:prstGeom>
          <a:noFill/>
          <a:ln/>
        </p:spPr>
        <p:txBody>
          <a:bodyPr wrap="square" lIns="0" tIns="0" rIns="0" bIns="0" rtlCol="0" anchor="ctr">
            <a:normAutofit/>
          </a:bodyPr>
          <a:lstStyle/>
          <a:p>
            <a:pPr marL="0" indent="0" algn="ctr">
              <a:buNone/>
            </a:pPr>
            <a:r>
              <a:rPr lang="en-US" sz="1550" b="1" dirty="0">
                <a:solidFill>
                  <a:srgbClr val="0F172A"/>
                </a:solidFill>
              </a:rPr>
              <a:t>Chapter 4 should not only say the system was developed. It should show evidence that it works or explain why it did not.</a:t>
            </a:r>
            <a:endParaRPr lang="en-US" sz="1550" dirty="0"/>
          </a:p>
        </p:txBody>
      </p:sp>
      <p:sp>
        <p:nvSpPr>
          <p:cNvPr id="19" name="Text 17"/>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Presenting results properly</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Results must be readable, comparable, and interpreted.</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FEF3C7"/>
          </a:solidFill>
          <a:ln>
            <a:solidFill>
              <a:srgbClr val="FEF3C7"/>
            </a:solidFill>
          </a:ln>
        </p:spPr>
        <p:txBody>
          <a:bodyPr wrap="square" lIns="635" tIns="635" rIns="635" bIns="635" rtlCol="0" anchor="ctr"/>
          <a:lstStyle/>
          <a:p>
            <a:pPr marL="0" indent="0" algn="ctr">
              <a:buNone/>
            </a:pPr>
            <a:r>
              <a:rPr lang="en-US" sz="1000" b="1" dirty="0">
                <a:solidFill>
                  <a:srgbClr val="F59E0B"/>
                </a:solidFill>
              </a:rPr>
              <a:t>Chapter 4</a:t>
            </a:r>
            <a:endParaRPr lang="en-US" sz="1000" dirty="0"/>
          </a:p>
        </p:txBody>
      </p:sp>
      <p:sp>
        <p:nvSpPr>
          <p:cNvPr id="6" name="Text 4"/>
          <p:cNvSpPr/>
          <p:nvPr/>
        </p:nvSpPr>
        <p:spPr>
          <a:xfrm>
            <a:off x="777240" y="1508760"/>
            <a:ext cx="1920240" cy="475488"/>
          </a:xfrm>
          <a:prstGeom prst="rect">
            <a:avLst/>
          </a:prstGeom>
          <a:solidFill>
            <a:srgbClr val="0F172A"/>
          </a:solidFill>
          <a:ln>
            <a:solidFill>
              <a:srgbClr val="0F172A"/>
            </a:solidFill>
          </a:ln>
        </p:spPr>
        <p:txBody>
          <a:bodyPr wrap="square" lIns="508" tIns="508" rIns="508" bIns="508" rtlCol="0" anchor="ctr"/>
          <a:lstStyle/>
          <a:p>
            <a:pPr marL="0" indent="0" algn="ctr">
              <a:buNone/>
            </a:pPr>
            <a:r>
              <a:rPr lang="en-US" sz="1200" b="1" dirty="0">
                <a:solidFill>
                  <a:srgbClr val="FFFFFF"/>
                </a:solidFill>
              </a:rPr>
              <a:t>Task</a:t>
            </a:r>
            <a:endParaRPr lang="en-US" sz="1200" dirty="0"/>
          </a:p>
        </p:txBody>
      </p:sp>
      <p:sp>
        <p:nvSpPr>
          <p:cNvPr id="7" name="Text 5"/>
          <p:cNvSpPr/>
          <p:nvPr/>
        </p:nvSpPr>
        <p:spPr>
          <a:xfrm>
            <a:off x="2697480" y="1508760"/>
            <a:ext cx="4206240" cy="475488"/>
          </a:xfrm>
          <a:prstGeom prst="rect">
            <a:avLst/>
          </a:prstGeom>
          <a:solidFill>
            <a:srgbClr val="0F172A"/>
          </a:solidFill>
          <a:ln>
            <a:solidFill>
              <a:srgbClr val="0F172A"/>
            </a:solidFill>
          </a:ln>
        </p:spPr>
        <p:txBody>
          <a:bodyPr wrap="square" lIns="508" tIns="508" rIns="508" bIns="508" rtlCol="0" anchor="ctr"/>
          <a:lstStyle/>
          <a:p>
            <a:pPr marL="0" indent="0" algn="ctr">
              <a:buNone/>
            </a:pPr>
            <a:r>
              <a:rPr lang="en-US" sz="1200" b="1" dirty="0">
                <a:solidFill>
                  <a:srgbClr val="FFFFFF"/>
                </a:solidFill>
              </a:rPr>
              <a:t>Show</a:t>
            </a:r>
            <a:endParaRPr lang="en-US" sz="1200" dirty="0"/>
          </a:p>
        </p:txBody>
      </p:sp>
      <p:sp>
        <p:nvSpPr>
          <p:cNvPr id="8" name="Text 6"/>
          <p:cNvSpPr/>
          <p:nvPr/>
        </p:nvSpPr>
        <p:spPr>
          <a:xfrm>
            <a:off x="6903720" y="1508760"/>
            <a:ext cx="4572000" cy="475488"/>
          </a:xfrm>
          <a:prstGeom prst="rect">
            <a:avLst/>
          </a:prstGeom>
          <a:solidFill>
            <a:srgbClr val="0F172A"/>
          </a:solidFill>
          <a:ln>
            <a:solidFill>
              <a:srgbClr val="0F172A"/>
            </a:solidFill>
          </a:ln>
        </p:spPr>
        <p:txBody>
          <a:bodyPr wrap="square" lIns="508" tIns="508" rIns="508" bIns="508" rtlCol="0" anchor="ctr"/>
          <a:lstStyle/>
          <a:p>
            <a:pPr marL="0" indent="0" algn="ctr">
              <a:buNone/>
            </a:pPr>
            <a:r>
              <a:rPr lang="en-US" sz="1200" b="1" dirty="0">
                <a:solidFill>
                  <a:srgbClr val="FFFFFF"/>
                </a:solidFill>
              </a:rPr>
              <a:t>Explain</a:t>
            </a:r>
            <a:endParaRPr lang="en-US" sz="1200" dirty="0"/>
          </a:p>
        </p:txBody>
      </p:sp>
      <p:sp>
        <p:nvSpPr>
          <p:cNvPr id="9" name="Text 7"/>
          <p:cNvSpPr/>
          <p:nvPr/>
        </p:nvSpPr>
        <p:spPr>
          <a:xfrm>
            <a:off x="777240" y="2011680"/>
            <a:ext cx="192024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ctr">
              <a:buNone/>
            </a:pPr>
            <a:r>
              <a:rPr lang="en-US" sz="1120" b="1" dirty="0">
                <a:solidFill>
                  <a:srgbClr val="0F172A"/>
                </a:solidFill>
              </a:rPr>
              <a:t>Classification</a:t>
            </a:r>
            <a:endParaRPr lang="en-US" sz="1120" dirty="0"/>
          </a:p>
        </p:txBody>
      </p:sp>
      <p:sp>
        <p:nvSpPr>
          <p:cNvPr id="10" name="Text 8"/>
          <p:cNvSpPr/>
          <p:nvPr/>
        </p:nvSpPr>
        <p:spPr>
          <a:xfrm>
            <a:off x="2697480" y="2011680"/>
            <a:ext cx="420624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F1, recall, confusion matrix</a:t>
            </a:r>
            <a:endParaRPr lang="en-US" sz="1120" dirty="0"/>
          </a:p>
        </p:txBody>
      </p:sp>
      <p:sp>
        <p:nvSpPr>
          <p:cNvPr id="11" name="Text 9"/>
          <p:cNvSpPr/>
          <p:nvPr/>
        </p:nvSpPr>
        <p:spPr>
          <a:xfrm>
            <a:off x="6903720" y="2011680"/>
            <a:ext cx="457200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Which class is hardest?</a:t>
            </a:r>
            <a:endParaRPr lang="en-US" sz="1120" dirty="0"/>
          </a:p>
        </p:txBody>
      </p:sp>
      <p:sp>
        <p:nvSpPr>
          <p:cNvPr id="12" name="Text 10"/>
          <p:cNvSpPr/>
          <p:nvPr/>
        </p:nvSpPr>
        <p:spPr>
          <a:xfrm>
            <a:off x="777240" y="2578608"/>
            <a:ext cx="192024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ctr">
              <a:buNone/>
            </a:pPr>
            <a:r>
              <a:rPr lang="en-US" sz="1120" b="1" dirty="0">
                <a:solidFill>
                  <a:srgbClr val="0F172A"/>
                </a:solidFill>
              </a:rPr>
              <a:t>Regression</a:t>
            </a:r>
            <a:endParaRPr lang="en-US" sz="1120" dirty="0"/>
          </a:p>
        </p:txBody>
      </p:sp>
      <p:sp>
        <p:nvSpPr>
          <p:cNvPr id="13" name="Text 11"/>
          <p:cNvSpPr/>
          <p:nvPr/>
        </p:nvSpPr>
        <p:spPr>
          <a:xfrm>
            <a:off x="2697480" y="2578608"/>
            <a:ext cx="420624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MAE, RMSE, R²</a:t>
            </a:r>
            <a:endParaRPr lang="en-US" sz="1120" dirty="0"/>
          </a:p>
        </p:txBody>
      </p:sp>
      <p:sp>
        <p:nvSpPr>
          <p:cNvPr id="14" name="Text 12"/>
          <p:cNvSpPr/>
          <p:nvPr/>
        </p:nvSpPr>
        <p:spPr>
          <a:xfrm>
            <a:off x="6903720" y="2578608"/>
            <a:ext cx="457200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How large are the errors?</a:t>
            </a:r>
            <a:endParaRPr lang="en-US" sz="1120" dirty="0"/>
          </a:p>
        </p:txBody>
      </p:sp>
      <p:sp>
        <p:nvSpPr>
          <p:cNvPr id="15" name="Text 13"/>
          <p:cNvSpPr/>
          <p:nvPr/>
        </p:nvSpPr>
        <p:spPr>
          <a:xfrm>
            <a:off x="777240" y="3145536"/>
            <a:ext cx="192024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ctr">
              <a:buNone/>
            </a:pPr>
            <a:r>
              <a:rPr lang="en-US" sz="1120" b="1" dirty="0">
                <a:solidFill>
                  <a:srgbClr val="0F172A"/>
                </a:solidFill>
              </a:rPr>
              <a:t>Time-series</a:t>
            </a:r>
            <a:endParaRPr lang="en-US" sz="1120" dirty="0"/>
          </a:p>
        </p:txBody>
      </p:sp>
      <p:sp>
        <p:nvSpPr>
          <p:cNvPr id="16" name="Text 14"/>
          <p:cNvSpPr/>
          <p:nvPr/>
        </p:nvSpPr>
        <p:spPr>
          <a:xfrm>
            <a:off x="2697480" y="3145536"/>
            <a:ext cx="420624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chronological split, rolling test</a:t>
            </a:r>
            <a:endParaRPr lang="en-US" sz="1120" dirty="0"/>
          </a:p>
        </p:txBody>
      </p:sp>
      <p:sp>
        <p:nvSpPr>
          <p:cNvPr id="17" name="Text 15"/>
          <p:cNvSpPr/>
          <p:nvPr/>
        </p:nvSpPr>
        <p:spPr>
          <a:xfrm>
            <a:off x="6903720" y="3145536"/>
            <a:ext cx="4572000" cy="530352"/>
          </a:xfrm>
          <a:prstGeom prst="rect">
            <a:avLst/>
          </a:prstGeom>
          <a:solidFill>
            <a:srgbClr val="FFFFFF"/>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Does it generalize to future periods?</a:t>
            </a:r>
            <a:endParaRPr lang="en-US" sz="1120" dirty="0"/>
          </a:p>
        </p:txBody>
      </p:sp>
      <p:sp>
        <p:nvSpPr>
          <p:cNvPr id="18" name="Text 16"/>
          <p:cNvSpPr/>
          <p:nvPr/>
        </p:nvSpPr>
        <p:spPr>
          <a:xfrm>
            <a:off x="777240" y="3712464"/>
            <a:ext cx="192024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ctr">
              <a:buNone/>
            </a:pPr>
            <a:r>
              <a:rPr lang="en-US" sz="1120" b="1" dirty="0">
                <a:solidFill>
                  <a:srgbClr val="0F172A"/>
                </a:solidFill>
              </a:rPr>
              <a:t>Prototype</a:t>
            </a:r>
            <a:endParaRPr lang="en-US" sz="1120" dirty="0"/>
          </a:p>
        </p:txBody>
      </p:sp>
      <p:sp>
        <p:nvSpPr>
          <p:cNvPr id="19" name="Text 17"/>
          <p:cNvSpPr/>
          <p:nvPr/>
        </p:nvSpPr>
        <p:spPr>
          <a:xfrm>
            <a:off x="2697480" y="3712464"/>
            <a:ext cx="420624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screenshots, inputs, outputs</a:t>
            </a:r>
            <a:endParaRPr lang="en-US" sz="1120" dirty="0"/>
          </a:p>
        </p:txBody>
      </p:sp>
      <p:sp>
        <p:nvSpPr>
          <p:cNvPr id="20" name="Text 18"/>
          <p:cNvSpPr/>
          <p:nvPr/>
        </p:nvSpPr>
        <p:spPr>
          <a:xfrm>
            <a:off x="6903720" y="3712464"/>
            <a:ext cx="4572000" cy="530352"/>
          </a:xfrm>
          <a:prstGeom prst="rect">
            <a:avLst/>
          </a:prstGeom>
          <a:solidFill>
            <a:srgbClr val="F1F5F9"/>
          </a:solidFill>
          <a:ln w="8890">
            <a:solidFill>
              <a:srgbClr val="CBD5E1"/>
            </a:solidFill>
          </a:ln>
        </p:spPr>
        <p:txBody>
          <a:bodyPr wrap="square" lIns="1016" tIns="1016" rIns="1016" bIns="1016" rtlCol="0" anchor="ctr">
            <a:normAutofit/>
          </a:bodyPr>
          <a:lstStyle/>
          <a:p>
            <a:pPr marL="0" indent="0" algn="l">
              <a:buNone/>
            </a:pPr>
            <a:r>
              <a:rPr lang="en-US" sz="1120" dirty="0">
                <a:solidFill>
                  <a:srgbClr val="475569"/>
                </a:solidFill>
              </a:rPr>
              <a:t>Does the ML model drive the system?</a:t>
            </a:r>
            <a:endParaRPr lang="en-US" sz="1120" dirty="0"/>
          </a:p>
        </p:txBody>
      </p:sp>
      <p:sp>
        <p:nvSpPr>
          <p:cNvPr id="21" name="Text 19"/>
          <p:cNvSpPr/>
          <p:nvPr/>
        </p:nvSpPr>
        <p:spPr>
          <a:xfrm>
            <a:off x="914400" y="5349240"/>
            <a:ext cx="10241280" cy="365760"/>
          </a:xfrm>
          <a:prstGeom prst="rect">
            <a:avLst/>
          </a:prstGeom>
          <a:noFill/>
          <a:ln/>
        </p:spPr>
        <p:txBody>
          <a:bodyPr wrap="square" lIns="0" tIns="0" rIns="0" bIns="0" rtlCol="0" anchor="ctr"/>
          <a:lstStyle/>
          <a:p>
            <a:pPr marL="0" indent="0" algn="ctr">
              <a:buNone/>
            </a:pPr>
            <a:r>
              <a:rPr lang="en-US" sz="1550" b="1" dirty="0">
                <a:solidFill>
                  <a:srgbClr val="0F172A"/>
                </a:solidFill>
              </a:rPr>
              <a:t>Do not only report numbers. Explain what the numbers mean for the problem.</a:t>
            </a:r>
            <a:endParaRPr lang="en-US" sz="1550" dirty="0"/>
          </a:p>
        </p:txBody>
      </p:sp>
      <p:sp>
        <p:nvSpPr>
          <p:cNvPr id="22" name="Text 20"/>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Discussion and limitations</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Good limitations make a report more credible, not weaker.</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FEF3C7"/>
          </a:solidFill>
          <a:ln>
            <a:solidFill>
              <a:srgbClr val="FEF3C7"/>
            </a:solidFill>
          </a:ln>
        </p:spPr>
        <p:txBody>
          <a:bodyPr wrap="square" lIns="635" tIns="635" rIns="635" bIns="635" rtlCol="0" anchor="ctr"/>
          <a:lstStyle/>
          <a:p>
            <a:pPr marL="0" indent="0" algn="ctr">
              <a:buNone/>
            </a:pPr>
            <a:r>
              <a:rPr lang="en-US" sz="1000" b="1" dirty="0">
                <a:solidFill>
                  <a:srgbClr val="F59E0B"/>
                </a:solidFill>
              </a:rPr>
              <a:t>Chapter 4</a:t>
            </a:r>
            <a:endParaRPr lang="en-US" sz="1000" dirty="0"/>
          </a:p>
        </p:txBody>
      </p:sp>
      <p:sp>
        <p:nvSpPr>
          <p:cNvPr id="6" name="Text 4"/>
          <p:cNvSpPr/>
          <p:nvPr/>
        </p:nvSpPr>
        <p:spPr>
          <a:xfrm>
            <a:off x="685800" y="1417320"/>
            <a:ext cx="48463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Discussion should connect back to</a:t>
            </a:r>
            <a:endParaRPr lang="en-US" sz="1450" dirty="0"/>
          </a:p>
        </p:txBody>
      </p:sp>
      <p:sp>
        <p:nvSpPr>
          <p:cNvPr id="7" name="Text 5"/>
          <p:cNvSpPr/>
          <p:nvPr/>
        </p:nvSpPr>
        <p:spPr>
          <a:xfrm>
            <a:off x="685800" y="1856232"/>
            <a:ext cx="4846320" cy="27157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Objectives</a:t>
            </a:r>
          </a:p>
          <a:p>
            <a:pPr marL="0" indent="0">
              <a:buNone/>
            </a:pPr>
            <a:endParaRPr lang="en-US" sz="1400" dirty="0"/>
          </a:p>
          <a:p>
            <a:pPr marL="0" indent="0">
              <a:buNone/>
            </a:pPr>
            <a:r>
              <a:rPr lang="en-US" sz="1400" dirty="0">
                <a:solidFill>
                  <a:srgbClr val="475569"/>
                </a:solidFill>
              </a:rPr>
              <a:t>Research questions</a:t>
            </a:r>
          </a:p>
          <a:p>
            <a:pPr marL="0" indent="0">
              <a:buNone/>
            </a:pPr>
            <a:endParaRPr lang="en-US" sz="1400" dirty="0"/>
          </a:p>
          <a:p>
            <a:pPr marL="0" indent="0">
              <a:buNone/>
            </a:pPr>
            <a:r>
              <a:rPr lang="en-US" sz="1400" dirty="0">
                <a:solidFill>
                  <a:srgbClr val="475569"/>
                </a:solidFill>
              </a:rPr>
              <a:t>Literature review</a:t>
            </a:r>
          </a:p>
          <a:p>
            <a:pPr marL="0" indent="0">
              <a:buNone/>
            </a:pPr>
            <a:endParaRPr lang="en-US" sz="1400" dirty="0"/>
          </a:p>
          <a:p>
            <a:pPr marL="0" indent="0">
              <a:buNone/>
            </a:pPr>
            <a:r>
              <a:rPr lang="en-US" sz="1400" dirty="0">
                <a:solidFill>
                  <a:srgbClr val="475569"/>
                </a:solidFill>
              </a:rPr>
              <a:t>Baseline comparison</a:t>
            </a:r>
          </a:p>
          <a:p>
            <a:pPr marL="0" indent="0">
              <a:buNone/>
            </a:pPr>
            <a:endParaRPr lang="en-US" sz="1400" dirty="0"/>
          </a:p>
          <a:p>
            <a:pPr marL="0" indent="0">
              <a:buNone/>
            </a:pPr>
            <a:r>
              <a:rPr lang="en-US" sz="1400" dirty="0">
                <a:solidFill>
                  <a:srgbClr val="475569"/>
                </a:solidFill>
              </a:rPr>
              <a:t>Practical usefulness</a:t>
            </a:r>
            <a:endParaRPr lang="en-US" sz="1400" dirty="0"/>
          </a:p>
        </p:txBody>
      </p:sp>
      <p:sp>
        <p:nvSpPr>
          <p:cNvPr id="8" name="Shape 6"/>
          <p:cNvSpPr/>
          <p:nvPr/>
        </p:nvSpPr>
        <p:spPr>
          <a:xfrm>
            <a:off x="704088" y="1801368"/>
            <a:ext cx="4809744" cy="0"/>
          </a:xfrm>
          <a:prstGeom prst="line">
            <a:avLst/>
          </a:prstGeom>
          <a:noFill/>
          <a:ln w="27940">
            <a:solidFill>
              <a:srgbClr val="16A34A"/>
            </a:solidFill>
            <a:prstDash val="solid"/>
          </a:ln>
        </p:spPr>
        <p:txBody>
          <a:bodyPr/>
          <a:lstStyle/>
          <a:p>
            <a:endParaRPr lang="en-US"/>
          </a:p>
        </p:txBody>
      </p:sp>
      <p:sp>
        <p:nvSpPr>
          <p:cNvPr id="9" name="Text 7"/>
          <p:cNvSpPr/>
          <p:nvPr/>
        </p:nvSpPr>
        <p:spPr>
          <a:xfrm>
            <a:off x="6629400" y="1417320"/>
            <a:ext cx="48463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Common limitations</a:t>
            </a:r>
            <a:endParaRPr lang="en-US" sz="1450" dirty="0"/>
          </a:p>
        </p:txBody>
      </p:sp>
      <p:sp>
        <p:nvSpPr>
          <p:cNvPr id="10" name="Text 8"/>
          <p:cNvSpPr/>
          <p:nvPr/>
        </p:nvSpPr>
        <p:spPr>
          <a:xfrm>
            <a:off x="6629400" y="1856232"/>
            <a:ext cx="4846320" cy="271576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Small dataset</a:t>
            </a:r>
          </a:p>
          <a:p>
            <a:pPr marL="0" indent="0">
              <a:buNone/>
            </a:pPr>
            <a:endParaRPr lang="en-US" sz="1400" dirty="0"/>
          </a:p>
          <a:p>
            <a:pPr marL="0" indent="0">
              <a:buNone/>
            </a:pPr>
            <a:r>
              <a:rPr lang="en-US" sz="1400" dirty="0">
                <a:solidFill>
                  <a:srgbClr val="475569"/>
                </a:solidFill>
              </a:rPr>
              <a:t>Synthetic or simulated component</a:t>
            </a:r>
          </a:p>
          <a:p>
            <a:pPr marL="0" indent="0">
              <a:buNone/>
            </a:pPr>
            <a:endParaRPr lang="en-US" sz="1400" dirty="0"/>
          </a:p>
          <a:p>
            <a:pPr marL="0" indent="0">
              <a:buNone/>
            </a:pPr>
            <a:r>
              <a:rPr lang="en-US" sz="1400" dirty="0">
                <a:solidFill>
                  <a:srgbClr val="475569"/>
                </a:solidFill>
              </a:rPr>
              <a:t>No real deployment</a:t>
            </a:r>
          </a:p>
          <a:p>
            <a:pPr marL="0" indent="0">
              <a:buNone/>
            </a:pPr>
            <a:endParaRPr lang="en-US" sz="1400" dirty="0"/>
          </a:p>
          <a:p>
            <a:pPr marL="0" indent="0">
              <a:buNone/>
            </a:pPr>
            <a:r>
              <a:rPr lang="en-US" sz="1400" dirty="0">
                <a:solidFill>
                  <a:srgbClr val="475569"/>
                </a:solidFill>
              </a:rPr>
              <a:t>Class imbalance</a:t>
            </a:r>
          </a:p>
          <a:p>
            <a:pPr marL="0" indent="0">
              <a:buNone/>
            </a:pPr>
            <a:endParaRPr lang="en-US" sz="1400" dirty="0"/>
          </a:p>
          <a:p>
            <a:pPr marL="0" indent="0">
              <a:buNone/>
            </a:pPr>
            <a:r>
              <a:rPr lang="en-US" sz="1400" dirty="0">
                <a:solidFill>
                  <a:srgbClr val="475569"/>
                </a:solidFill>
              </a:rPr>
              <a:t>Limited location scope</a:t>
            </a:r>
          </a:p>
          <a:p>
            <a:pPr marL="0" indent="0">
              <a:buNone/>
            </a:pPr>
            <a:endParaRPr lang="en-US" sz="1400" dirty="0"/>
          </a:p>
          <a:p>
            <a:pPr marL="0" indent="0">
              <a:buNone/>
            </a:pPr>
            <a:r>
              <a:rPr lang="en-US" sz="1400" dirty="0">
                <a:solidFill>
                  <a:srgbClr val="475569"/>
                </a:solidFill>
              </a:rPr>
              <a:t>No clinical, financial, or policy validation</a:t>
            </a:r>
            <a:endParaRPr lang="en-US" sz="1400" dirty="0"/>
          </a:p>
        </p:txBody>
      </p:sp>
      <p:sp>
        <p:nvSpPr>
          <p:cNvPr id="11" name="Shape 9"/>
          <p:cNvSpPr/>
          <p:nvPr/>
        </p:nvSpPr>
        <p:spPr>
          <a:xfrm>
            <a:off x="6647688" y="1801368"/>
            <a:ext cx="4809744" cy="0"/>
          </a:xfrm>
          <a:prstGeom prst="line">
            <a:avLst/>
          </a:prstGeom>
          <a:noFill/>
          <a:ln w="27940">
            <a:solidFill>
              <a:srgbClr val="DC2626"/>
            </a:solidFill>
            <a:prstDash val="solid"/>
          </a:ln>
        </p:spPr>
        <p:txBody>
          <a:bodyPr/>
          <a:lstStyle/>
          <a:p>
            <a:endParaRPr lang="en-US"/>
          </a:p>
        </p:txBody>
      </p:sp>
      <p:sp>
        <p:nvSpPr>
          <p:cNvPr id="12" name="Text 10"/>
          <p:cNvSpPr/>
          <p:nvPr/>
        </p:nvSpPr>
        <p:spPr>
          <a:xfrm>
            <a:off x="914400" y="5349240"/>
            <a:ext cx="10195560" cy="411480"/>
          </a:xfrm>
          <a:prstGeom prst="rect">
            <a:avLst/>
          </a:prstGeom>
          <a:noFill/>
          <a:ln/>
        </p:spPr>
        <p:txBody>
          <a:bodyPr wrap="square" lIns="0" tIns="0" rIns="0" bIns="0" rtlCol="0" anchor="ctr">
            <a:normAutofit/>
          </a:bodyPr>
          <a:lstStyle/>
          <a:p>
            <a:pPr marL="0" indent="0" algn="ctr">
              <a:buNone/>
            </a:pPr>
            <a:r>
              <a:rPr lang="en-US" sz="1450" b="1" dirty="0">
                <a:solidFill>
                  <a:srgbClr val="0F172A"/>
                </a:solidFill>
              </a:rPr>
              <a:t>Strong defense line: “This is a proof of concept. It validates the framework, not full real-world deployment.”</a:t>
            </a:r>
            <a:endParaRPr lang="en-US" sz="145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Chapter 5: Conclusion and Recommendations</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End with what was achieved, what was learned, and what should happen next.</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E0F2FE"/>
          </a:solidFill>
          <a:ln>
            <a:solidFill>
              <a:srgbClr val="E0F2FE"/>
            </a:solidFill>
          </a:ln>
        </p:spPr>
        <p:txBody>
          <a:bodyPr wrap="square" lIns="635" tIns="635" rIns="635" bIns="635" rtlCol="0" anchor="ctr"/>
          <a:lstStyle/>
          <a:p>
            <a:pPr marL="0" indent="0" algn="ctr">
              <a:buNone/>
            </a:pPr>
            <a:r>
              <a:rPr lang="en-US" sz="1000" b="1" dirty="0">
                <a:solidFill>
                  <a:srgbClr val="06B6D4"/>
                </a:solidFill>
              </a:rPr>
              <a:t>Chapter 5</a:t>
            </a:r>
            <a:endParaRPr lang="en-US" sz="1000" dirty="0"/>
          </a:p>
        </p:txBody>
      </p:sp>
      <p:sp>
        <p:nvSpPr>
          <p:cNvPr id="6" name="Text 4"/>
          <p:cNvSpPr/>
          <p:nvPr/>
        </p:nvSpPr>
        <p:spPr>
          <a:xfrm>
            <a:off x="685800" y="1417320"/>
            <a:ext cx="50749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Chapter 5 should include</a:t>
            </a:r>
            <a:endParaRPr lang="en-US" sz="1450" dirty="0"/>
          </a:p>
        </p:txBody>
      </p:sp>
      <p:sp>
        <p:nvSpPr>
          <p:cNvPr id="7" name="Text 5"/>
          <p:cNvSpPr/>
          <p:nvPr/>
        </p:nvSpPr>
        <p:spPr>
          <a:xfrm>
            <a:off x="685800" y="1856232"/>
            <a:ext cx="5074920" cy="30358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Summary of objectives</a:t>
            </a:r>
          </a:p>
          <a:p>
            <a:pPr marL="0" indent="0">
              <a:buNone/>
            </a:pPr>
            <a:endParaRPr lang="en-US" sz="1400" dirty="0"/>
          </a:p>
          <a:p>
            <a:pPr marL="0" indent="0">
              <a:buNone/>
            </a:pPr>
            <a:r>
              <a:rPr lang="en-US" sz="1400" dirty="0">
                <a:solidFill>
                  <a:srgbClr val="475569"/>
                </a:solidFill>
              </a:rPr>
              <a:t>Answers to research questions</a:t>
            </a:r>
          </a:p>
          <a:p>
            <a:pPr marL="0" indent="0">
              <a:buNone/>
            </a:pPr>
            <a:endParaRPr lang="en-US" sz="1400" dirty="0"/>
          </a:p>
          <a:p>
            <a:pPr marL="0" indent="0">
              <a:buNone/>
            </a:pPr>
            <a:r>
              <a:rPr lang="en-US" sz="1400" dirty="0">
                <a:solidFill>
                  <a:srgbClr val="475569"/>
                </a:solidFill>
              </a:rPr>
              <a:t>Main findings</a:t>
            </a:r>
          </a:p>
          <a:p>
            <a:pPr marL="0" indent="0">
              <a:buNone/>
            </a:pPr>
            <a:endParaRPr lang="en-US" sz="1400" dirty="0"/>
          </a:p>
          <a:p>
            <a:pPr marL="0" indent="0">
              <a:buNone/>
            </a:pPr>
            <a:r>
              <a:rPr lang="en-US" sz="1400" dirty="0">
                <a:solidFill>
                  <a:srgbClr val="475569"/>
                </a:solidFill>
              </a:rPr>
              <a:t>Contribution</a:t>
            </a:r>
          </a:p>
          <a:p>
            <a:pPr marL="0" indent="0">
              <a:buNone/>
            </a:pPr>
            <a:endParaRPr lang="en-US" sz="1400" dirty="0"/>
          </a:p>
          <a:p>
            <a:pPr marL="0" indent="0">
              <a:buNone/>
            </a:pPr>
            <a:r>
              <a:rPr lang="en-US" sz="1400" dirty="0">
                <a:solidFill>
                  <a:srgbClr val="475569"/>
                </a:solidFill>
              </a:rPr>
              <a:t>Recommendations</a:t>
            </a:r>
          </a:p>
          <a:p>
            <a:pPr marL="0" indent="0">
              <a:buNone/>
            </a:pPr>
            <a:endParaRPr lang="en-US" sz="1400" dirty="0"/>
          </a:p>
          <a:p>
            <a:pPr marL="0" indent="0">
              <a:buNone/>
            </a:pPr>
            <a:r>
              <a:rPr lang="en-US" sz="1400" dirty="0">
                <a:solidFill>
                  <a:srgbClr val="475569"/>
                </a:solidFill>
              </a:rPr>
              <a:t>Future work</a:t>
            </a:r>
            <a:endParaRPr lang="en-US" sz="1400" dirty="0"/>
          </a:p>
        </p:txBody>
      </p:sp>
      <p:sp>
        <p:nvSpPr>
          <p:cNvPr id="8" name="Shape 6"/>
          <p:cNvSpPr/>
          <p:nvPr/>
        </p:nvSpPr>
        <p:spPr>
          <a:xfrm>
            <a:off x="704088" y="1801368"/>
            <a:ext cx="5038344" cy="0"/>
          </a:xfrm>
          <a:prstGeom prst="line">
            <a:avLst/>
          </a:prstGeom>
          <a:noFill/>
          <a:ln w="27940">
            <a:solidFill>
              <a:srgbClr val="06B6D4"/>
            </a:solidFill>
            <a:prstDash val="solid"/>
          </a:ln>
        </p:spPr>
        <p:txBody>
          <a:bodyPr/>
          <a:lstStyle/>
          <a:p>
            <a:endParaRPr lang="en-US"/>
          </a:p>
        </p:txBody>
      </p:sp>
      <p:sp>
        <p:nvSpPr>
          <p:cNvPr id="9" name="Text 7"/>
          <p:cNvSpPr/>
          <p:nvPr/>
        </p:nvSpPr>
        <p:spPr>
          <a:xfrm>
            <a:off x="6400800" y="1417320"/>
            <a:ext cx="50749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Weak vs strong conclusion</a:t>
            </a:r>
            <a:endParaRPr lang="en-US" sz="1450" dirty="0"/>
          </a:p>
        </p:txBody>
      </p:sp>
      <p:sp>
        <p:nvSpPr>
          <p:cNvPr id="10" name="Text 8"/>
          <p:cNvSpPr/>
          <p:nvPr/>
        </p:nvSpPr>
        <p:spPr>
          <a:xfrm>
            <a:off x="6400800" y="1856232"/>
            <a:ext cx="5074920" cy="30358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Weak: “The project was successful.”</a:t>
            </a:r>
            <a:endParaRPr lang="en-US" sz="1400" dirty="0"/>
          </a:p>
          <a:p>
            <a:pPr marL="0" indent="0">
              <a:buNone/>
            </a:pPr>
            <a:endParaRPr lang="en-US" sz="1400" dirty="0"/>
          </a:p>
          <a:p>
            <a:pPr marL="0" indent="0">
              <a:buNone/>
            </a:pPr>
            <a:r>
              <a:rPr lang="en-US" sz="1400" dirty="0">
                <a:solidFill>
                  <a:srgbClr val="475569"/>
                </a:solidFill>
              </a:rPr>
              <a:t>Strong: “XGBoost outperformed the rule-based baseline on macro F1, but minority-class recall remained weak due to class imbalance.”</a:t>
            </a:r>
            <a:endParaRPr lang="en-US" sz="1400" dirty="0"/>
          </a:p>
        </p:txBody>
      </p:sp>
      <p:sp>
        <p:nvSpPr>
          <p:cNvPr id="11" name="Shape 9"/>
          <p:cNvSpPr/>
          <p:nvPr/>
        </p:nvSpPr>
        <p:spPr>
          <a:xfrm>
            <a:off x="6419088" y="1801368"/>
            <a:ext cx="5038344" cy="0"/>
          </a:xfrm>
          <a:prstGeom prst="line">
            <a:avLst/>
          </a:prstGeom>
          <a:noFill/>
          <a:ln w="27940">
            <a:solidFill>
              <a:srgbClr val="16A34A"/>
            </a:solidFill>
            <a:prstDash val="solid"/>
          </a:ln>
        </p:spPr>
        <p:txBody>
          <a:bodyPr/>
          <a:lstStyle/>
          <a:p>
            <a:endParaRPr lang="en-US"/>
          </a:p>
        </p:txBody>
      </p:sp>
      <p:sp>
        <p:nvSpPr>
          <p:cNvPr id="12" name="Text 10"/>
          <p:cNvSpPr/>
          <p:nvPr/>
        </p:nvSpPr>
        <p:spPr>
          <a:xfrm>
            <a:off x="960120" y="5577840"/>
            <a:ext cx="10104120" cy="320040"/>
          </a:xfrm>
          <a:prstGeom prst="rect">
            <a:avLst/>
          </a:prstGeom>
          <a:noFill/>
          <a:ln/>
        </p:spPr>
        <p:txBody>
          <a:bodyPr wrap="square" lIns="0" tIns="0" rIns="0" bIns="0" rtlCol="0" anchor="ctr"/>
          <a:lstStyle/>
          <a:p>
            <a:pPr marL="0" indent="0" algn="ctr">
              <a:buNone/>
            </a:pPr>
            <a:r>
              <a:rPr lang="en-US" sz="1500" b="1" dirty="0">
                <a:solidFill>
                  <a:srgbClr val="0F172A"/>
                </a:solidFill>
              </a:rPr>
              <a:t>Recommendations must come from your findings, not from unrelated ideas.</a:t>
            </a:r>
            <a:endParaRPr lang="en-US" sz="1500" dirty="0"/>
          </a:p>
        </p:txBody>
      </p:sp>
      <p:sp>
        <p:nvSpPr>
          <p:cNvPr id="13" name="Text 11"/>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Common mistakes to avoid</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These issues were common across proposals and should not appear in final reports.</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FEE2E2"/>
          </a:solidFill>
          <a:ln>
            <a:solidFill>
              <a:srgbClr val="FEE2E2"/>
            </a:solidFill>
          </a:ln>
        </p:spPr>
        <p:txBody>
          <a:bodyPr wrap="square" lIns="635" tIns="635" rIns="635" bIns="635" rtlCol="0" anchor="ctr"/>
          <a:lstStyle/>
          <a:p>
            <a:pPr marL="0" indent="0" algn="ctr">
              <a:buNone/>
            </a:pPr>
            <a:r>
              <a:rPr lang="en-US" sz="1000" b="1" dirty="0">
                <a:solidFill>
                  <a:srgbClr val="DC2626"/>
                </a:solidFill>
              </a:rPr>
              <a:t>Common issues</a:t>
            </a:r>
            <a:endParaRPr lang="en-US" sz="1000" dirty="0"/>
          </a:p>
        </p:txBody>
      </p:sp>
      <p:sp>
        <p:nvSpPr>
          <p:cNvPr id="6" name="Text 4"/>
          <p:cNvSpPr/>
          <p:nvPr/>
        </p:nvSpPr>
        <p:spPr>
          <a:xfrm>
            <a:off x="731520" y="1417320"/>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Wrong tense</a:t>
            </a:r>
            <a:endParaRPr lang="en-US" sz="1450" dirty="0"/>
          </a:p>
        </p:txBody>
      </p:sp>
      <p:sp>
        <p:nvSpPr>
          <p:cNvPr id="7" name="Text 5"/>
          <p:cNvSpPr/>
          <p:nvPr/>
        </p:nvSpPr>
        <p:spPr>
          <a:xfrm>
            <a:off x="731520" y="1856232"/>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Do not write as if the system already exists before implementation.</a:t>
            </a:r>
            <a:endParaRPr lang="en-US" sz="1160" dirty="0"/>
          </a:p>
        </p:txBody>
      </p:sp>
      <p:sp>
        <p:nvSpPr>
          <p:cNvPr id="8" name="Shape 6"/>
          <p:cNvSpPr/>
          <p:nvPr/>
        </p:nvSpPr>
        <p:spPr>
          <a:xfrm>
            <a:off x="749808" y="1801368"/>
            <a:ext cx="5266944" cy="0"/>
          </a:xfrm>
          <a:prstGeom prst="line">
            <a:avLst/>
          </a:prstGeom>
          <a:noFill/>
          <a:ln w="27940">
            <a:solidFill>
              <a:srgbClr val="DC2626"/>
            </a:solidFill>
            <a:prstDash val="solid"/>
          </a:ln>
        </p:spPr>
        <p:txBody>
          <a:bodyPr/>
          <a:lstStyle/>
          <a:p>
            <a:endParaRPr lang="en-US"/>
          </a:p>
        </p:txBody>
      </p:sp>
      <p:sp>
        <p:nvSpPr>
          <p:cNvPr id="9" name="Text 7"/>
          <p:cNvSpPr/>
          <p:nvPr/>
        </p:nvSpPr>
        <p:spPr>
          <a:xfrm>
            <a:off x="6355080" y="1417320"/>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Wrong metric</a:t>
            </a:r>
            <a:endParaRPr lang="en-US" sz="1450" dirty="0"/>
          </a:p>
        </p:txBody>
      </p:sp>
      <p:sp>
        <p:nvSpPr>
          <p:cNvPr id="10" name="Text 8"/>
          <p:cNvSpPr/>
          <p:nvPr/>
        </p:nvSpPr>
        <p:spPr>
          <a:xfrm>
            <a:off x="6355080" y="1856232"/>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Accuracy alone is weak for imbalanced data.</a:t>
            </a:r>
            <a:endParaRPr lang="en-US" sz="1160" dirty="0"/>
          </a:p>
        </p:txBody>
      </p:sp>
      <p:sp>
        <p:nvSpPr>
          <p:cNvPr id="11" name="Shape 9"/>
          <p:cNvSpPr/>
          <p:nvPr/>
        </p:nvSpPr>
        <p:spPr>
          <a:xfrm>
            <a:off x="6373368" y="1801368"/>
            <a:ext cx="5266944" cy="0"/>
          </a:xfrm>
          <a:prstGeom prst="line">
            <a:avLst/>
          </a:prstGeom>
          <a:noFill/>
          <a:ln w="27940">
            <a:solidFill>
              <a:srgbClr val="F59E0B"/>
            </a:solidFill>
            <a:prstDash val="solid"/>
          </a:ln>
        </p:spPr>
        <p:txBody>
          <a:bodyPr/>
          <a:lstStyle/>
          <a:p>
            <a:endParaRPr lang="en-US"/>
          </a:p>
        </p:txBody>
      </p:sp>
      <p:sp>
        <p:nvSpPr>
          <p:cNvPr id="12" name="Text 10"/>
          <p:cNvSpPr/>
          <p:nvPr/>
        </p:nvSpPr>
        <p:spPr>
          <a:xfrm>
            <a:off x="731520" y="2724912"/>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Vague data</a:t>
            </a:r>
            <a:endParaRPr lang="en-US" sz="1450" dirty="0"/>
          </a:p>
        </p:txBody>
      </p:sp>
      <p:sp>
        <p:nvSpPr>
          <p:cNvPr id="13" name="Text 11"/>
          <p:cNvSpPr/>
          <p:nvPr/>
        </p:nvSpPr>
        <p:spPr>
          <a:xfrm>
            <a:off x="731520" y="3163824"/>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State source, rows, features, target, and access status.</a:t>
            </a:r>
            <a:endParaRPr lang="en-US" sz="1160" dirty="0"/>
          </a:p>
        </p:txBody>
      </p:sp>
      <p:sp>
        <p:nvSpPr>
          <p:cNvPr id="14" name="Shape 12"/>
          <p:cNvSpPr/>
          <p:nvPr/>
        </p:nvSpPr>
        <p:spPr>
          <a:xfrm>
            <a:off x="749808" y="3108960"/>
            <a:ext cx="5266944" cy="0"/>
          </a:xfrm>
          <a:prstGeom prst="line">
            <a:avLst/>
          </a:prstGeom>
          <a:noFill/>
          <a:ln w="27940">
            <a:solidFill>
              <a:srgbClr val="DC2626"/>
            </a:solidFill>
            <a:prstDash val="solid"/>
          </a:ln>
        </p:spPr>
        <p:txBody>
          <a:bodyPr/>
          <a:lstStyle/>
          <a:p>
            <a:endParaRPr lang="en-US"/>
          </a:p>
        </p:txBody>
      </p:sp>
      <p:sp>
        <p:nvSpPr>
          <p:cNvPr id="15" name="Text 13"/>
          <p:cNvSpPr/>
          <p:nvPr/>
        </p:nvSpPr>
        <p:spPr>
          <a:xfrm>
            <a:off x="6355080" y="2724912"/>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Overclaiming</a:t>
            </a:r>
            <a:endParaRPr lang="en-US" sz="1450" dirty="0"/>
          </a:p>
        </p:txBody>
      </p:sp>
      <p:sp>
        <p:nvSpPr>
          <p:cNvPr id="16" name="Text 14"/>
          <p:cNvSpPr/>
          <p:nvPr/>
        </p:nvSpPr>
        <p:spPr>
          <a:xfrm>
            <a:off x="6355080" y="3163824"/>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Do not claim social, clinical, or financial impact you did not test.</a:t>
            </a:r>
            <a:endParaRPr lang="en-US" sz="1160" dirty="0"/>
          </a:p>
        </p:txBody>
      </p:sp>
      <p:sp>
        <p:nvSpPr>
          <p:cNvPr id="17" name="Shape 15"/>
          <p:cNvSpPr/>
          <p:nvPr/>
        </p:nvSpPr>
        <p:spPr>
          <a:xfrm>
            <a:off x="6373368" y="3108960"/>
            <a:ext cx="5266944" cy="0"/>
          </a:xfrm>
          <a:prstGeom prst="line">
            <a:avLst/>
          </a:prstGeom>
          <a:noFill/>
          <a:ln w="27940">
            <a:solidFill>
              <a:srgbClr val="F59E0B"/>
            </a:solidFill>
            <a:prstDash val="solid"/>
          </a:ln>
        </p:spPr>
        <p:txBody>
          <a:bodyPr/>
          <a:lstStyle/>
          <a:p>
            <a:endParaRPr lang="en-US"/>
          </a:p>
        </p:txBody>
      </p:sp>
      <p:sp>
        <p:nvSpPr>
          <p:cNvPr id="18" name="Text 16"/>
          <p:cNvSpPr/>
          <p:nvPr/>
        </p:nvSpPr>
        <p:spPr>
          <a:xfrm>
            <a:off x="731520" y="4032504"/>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No baseline</a:t>
            </a:r>
            <a:endParaRPr lang="en-US" sz="1450" dirty="0"/>
          </a:p>
        </p:txBody>
      </p:sp>
      <p:sp>
        <p:nvSpPr>
          <p:cNvPr id="19" name="Text 17"/>
          <p:cNvSpPr/>
          <p:nvPr/>
        </p:nvSpPr>
        <p:spPr>
          <a:xfrm>
            <a:off x="731520" y="4471416"/>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Always compare against a simple method.</a:t>
            </a:r>
            <a:endParaRPr lang="en-US" sz="1160" dirty="0"/>
          </a:p>
        </p:txBody>
      </p:sp>
      <p:sp>
        <p:nvSpPr>
          <p:cNvPr id="20" name="Shape 18"/>
          <p:cNvSpPr/>
          <p:nvPr/>
        </p:nvSpPr>
        <p:spPr>
          <a:xfrm>
            <a:off x="749808" y="4416552"/>
            <a:ext cx="5266944" cy="0"/>
          </a:xfrm>
          <a:prstGeom prst="line">
            <a:avLst/>
          </a:prstGeom>
          <a:noFill/>
          <a:ln w="27940">
            <a:solidFill>
              <a:srgbClr val="DC2626"/>
            </a:solidFill>
            <a:prstDash val="solid"/>
          </a:ln>
        </p:spPr>
        <p:txBody>
          <a:bodyPr/>
          <a:lstStyle/>
          <a:p>
            <a:endParaRPr lang="en-US"/>
          </a:p>
        </p:txBody>
      </p:sp>
      <p:sp>
        <p:nvSpPr>
          <p:cNvPr id="21" name="Text 19"/>
          <p:cNvSpPr/>
          <p:nvPr/>
        </p:nvSpPr>
        <p:spPr>
          <a:xfrm>
            <a:off x="6355080" y="4032504"/>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Ethics mismatch</a:t>
            </a:r>
            <a:endParaRPr lang="en-US" sz="1450" dirty="0"/>
          </a:p>
        </p:txBody>
      </p:sp>
      <p:sp>
        <p:nvSpPr>
          <p:cNvPr id="22" name="Text 20"/>
          <p:cNvSpPr/>
          <p:nvPr/>
        </p:nvSpPr>
        <p:spPr>
          <a:xfrm>
            <a:off x="6355080" y="4471416"/>
            <a:ext cx="5303520" cy="52120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160" dirty="0">
                <a:solidFill>
                  <a:srgbClr val="475569"/>
                </a:solidFill>
              </a:rPr>
              <a:t>If the system stores sensitive data, address privacy and consent.</a:t>
            </a:r>
            <a:endParaRPr lang="en-US" sz="1160" dirty="0"/>
          </a:p>
        </p:txBody>
      </p:sp>
      <p:sp>
        <p:nvSpPr>
          <p:cNvPr id="23" name="Shape 21"/>
          <p:cNvSpPr/>
          <p:nvPr/>
        </p:nvSpPr>
        <p:spPr>
          <a:xfrm>
            <a:off x="6373368" y="4416552"/>
            <a:ext cx="5266944" cy="0"/>
          </a:xfrm>
          <a:prstGeom prst="line">
            <a:avLst/>
          </a:prstGeom>
          <a:noFill/>
          <a:ln w="27940">
            <a:solidFill>
              <a:srgbClr val="F59E0B"/>
            </a:solidFill>
            <a:prstDash val="solid"/>
          </a:ln>
        </p:spPr>
        <p:txBody>
          <a:bodyPr/>
          <a:lstStyle/>
          <a:p>
            <a:endParaRPr lang="en-US"/>
          </a:p>
        </p:txBody>
      </p:sp>
      <p:sp>
        <p:nvSpPr>
          <p:cNvPr id="24" name="Text 22"/>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How to defend your capstone</a:t>
            </a:r>
            <a:endParaRPr lang="en-US" sz="2600" dirty="0"/>
          </a:p>
        </p:txBody>
      </p:sp>
      <p:sp>
        <p:nvSpPr>
          <p:cNvPr id="3" name="Text 1"/>
          <p:cNvSpPr/>
          <p:nvPr/>
        </p:nvSpPr>
        <p:spPr>
          <a:xfrm>
            <a:off x="521208" y="822960"/>
            <a:ext cx="9601200" cy="292608"/>
          </a:xfrm>
          <a:prstGeom prst="rect">
            <a:avLst/>
          </a:prstGeom>
          <a:noFill/>
          <a:ln/>
        </p:spPr>
        <p:txBody>
          <a:bodyPr wrap="square" lIns="0" tIns="0" rIns="0" bIns="0" rtlCol="0" anchor="ctr">
            <a:normAutofit/>
          </a:bodyPr>
          <a:lstStyle/>
          <a:p>
            <a:pPr marL="0" indent="0">
              <a:buNone/>
            </a:pPr>
            <a:r>
              <a:rPr lang="en-US" sz="1150" dirty="0">
                <a:solidFill>
                  <a:srgbClr val="475569"/>
                </a:solidFill>
              </a:rPr>
              <a:t>A good defense is clear, honest, and evidence-based.</a:t>
            </a:r>
            <a:endParaRPr lang="en-US" sz="1150" dirty="0"/>
          </a:p>
        </p:txBody>
      </p:sp>
      <p:sp>
        <p:nvSpPr>
          <p:cNvPr id="4" name="Shape 2"/>
          <p:cNvSpPr/>
          <p:nvPr/>
        </p:nvSpPr>
        <p:spPr>
          <a:xfrm>
            <a:off x="502920" y="1115568"/>
            <a:ext cx="11155680" cy="0"/>
          </a:xfrm>
          <a:prstGeom prst="line">
            <a:avLst/>
          </a:prstGeom>
          <a:noFill/>
          <a:ln w="9525">
            <a:solidFill>
              <a:srgbClr val="CBD5E1"/>
            </a:solidFill>
            <a:prstDash val="solid"/>
          </a:ln>
        </p:spPr>
        <p:txBody>
          <a:bodyPr/>
          <a:lstStyle/>
          <a:p>
            <a:endParaRPr lang="en-US"/>
          </a:p>
        </p:txBody>
      </p:sp>
      <p:sp>
        <p:nvSpPr>
          <p:cNvPr id="5" name="Text 3"/>
          <p:cNvSpPr/>
          <p:nvPr/>
        </p:nvSpPr>
        <p:spPr>
          <a:xfrm>
            <a:off x="9784080" y="384048"/>
            <a:ext cx="1828800" cy="310896"/>
          </a:xfrm>
          <a:prstGeom prst="roundRect">
            <a:avLst/>
          </a:prstGeom>
          <a:solidFill>
            <a:srgbClr val="E2E8F0"/>
          </a:solidFill>
          <a:ln>
            <a:solidFill>
              <a:srgbClr val="E2E8F0"/>
            </a:solidFill>
          </a:ln>
        </p:spPr>
        <p:txBody>
          <a:bodyPr wrap="square" lIns="635" tIns="635" rIns="635" bIns="635" rtlCol="0" anchor="ctr"/>
          <a:lstStyle/>
          <a:p>
            <a:pPr marL="0" indent="0" algn="ctr">
              <a:buNone/>
            </a:pPr>
            <a:r>
              <a:rPr lang="en-US" sz="1000" b="1" dirty="0">
                <a:solidFill>
                  <a:srgbClr val="0F172A"/>
                </a:solidFill>
              </a:rPr>
              <a:t>Defense</a:t>
            </a:r>
            <a:endParaRPr lang="en-US" sz="1000" dirty="0"/>
          </a:p>
        </p:txBody>
      </p:sp>
      <p:sp>
        <p:nvSpPr>
          <p:cNvPr id="6" name="Text 4"/>
          <p:cNvSpPr/>
          <p:nvPr/>
        </p:nvSpPr>
        <p:spPr>
          <a:xfrm>
            <a:off x="594360" y="1554480"/>
            <a:ext cx="1280160" cy="384048"/>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050" b="1" dirty="0">
                <a:solidFill>
                  <a:srgbClr val="0F172A"/>
                </a:solidFill>
              </a:rPr>
              <a:t>Problem</a:t>
            </a:r>
            <a:endParaRPr lang="en-US" sz="1050" dirty="0"/>
          </a:p>
        </p:txBody>
      </p:sp>
      <p:sp>
        <p:nvSpPr>
          <p:cNvPr id="7" name="Text 5"/>
          <p:cNvSpPr/>
          <p:nvPr/>
        </p:nvSpPr>
        <p:spPr>
          <a:xfrm>
            <a:off x="2057400" y="1554480"/>
            <a:ext cx="1280160" cy="384048"/>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050" b="1" dirty="0">
                <a:solidFill>
                  <a:srgbClr val="0F172A"/>
                </a:solidFill>
              </a:rPr>
              <a:t>Gap</a:t>
            </a:r>
            <a:endParaRPr lang="en-US" sz="1050" dirty="0"/>
          </a:p>
        </p:txBody>
      </p:sp>
      <p:sp>
        <p:nvSpPr>
          <p:cNvPr id="8" name="Text 6"/>
          <p:cNvSpPr/>
          <p:nvPr/>
        </p:nvSpPr>
        <p:spPr>
          <a:xfrm>
            <a:off x="3520440" y="1554480"/>
            <a:ext cx="1280160" cy="384048"/>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050" b="1" dirty="0">
                <a:solidFill>
                  <a:srgbClr val="0F172A"/>
                </a:solidFill>
              </a:rPr>
              <a:t>Data</a:t>
            </a:r>
            <a:endParaRPr lang="en-US" sz="1050" dirty="0"/>
          </a:p>
        </p:txBody>
      </p:sp>
      <p:sp>
        <p:nvSpPr>
          <p:cNvPr id="9" name="Text 7"/>
          <p:cNvSpPr/>
          <p:nvPr/>
        </p:nvSpPr>
        <p:spPr>
          <a:xfrm>
            <a:off x="4983480" y="1554480"/>
            <a:ext cx="1280160" cy="384048"/>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050" b="1" dirty="0">
                <a:solidFill>
                  <a:srgbClr val="0F172A"/>
                </a:solidFill>
              </a:rPr>
              <a:t>ML method</a:t>
            </a:r>
            <a:endParaRPr lang="en-US" sz="1050" dirty="0"/>
          </a:p>
        </p:txBody>
      </p:sp>
      <p:sp>
        <p:nvSpPr>
          <p:cNvPr id="10" name="Text 8"/>
          <p:cNvSpPr/>
          <p:nvPr/>
        </p:nvSpPr>
        <p:spPr>
          <a:xfrm>
            <a:off x="6446520" y="1554480"/>
            <a:ext cx="1280160" cy="384048"/>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050" b="1" dirty="0">
                <a:solidFill>
                  <a:srgbClr val="0F172A"/>
                </a:solidFill>
              </a:rPr>
              <a:t>Results</a:t>
            </a:r>
            <a:endParaRPr lang="en-US" sz="1050" dirty="0"/>
          </a:p>
        </p:txBody>
      </p:sp>
      <p:sp>
        <p:nvSpPr>
          <p:cNvPr id="11" name="Text 9"/>
          <p:cNvSpPr/>
          <p:nvPr/>
        </p:nvSpPr>
        <p:spPr>
          <a:xfrm>
            <a:off x="7909560" y="1554480"/>
            <a:ext cx="1280160" cy="384048"/>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050" b="1" dirty="0">
                <a:solidFill>
                  <a:srgbClr val="0F172A"/>
                </a:solidFill>
              </a:rPr>
              <a:t>Prototype</a:t>
            </a:r>
            <a:endParaRPr lang="en-US" sz="1050" dirty="0"/>
          </a:p>
        </p:txBody>
      </p:sp>
      <p:sp>
        <p:nvSpPr>
          <p:cNvPr id="12" name="Text 10"/>
          <p:cNvSpPr/>
          <p:nvPr/>
        </p:nvSpPr>
        <p:spPr>
          <a:xfrm>
            <a:off x="9372600" y="1554480"/>
            <a:ext cx="1280160" cy="384048"/>
          </a:xfrm>
          <a:prstGeom prst="roundRect">
            <a:avLst/>
          </a:prstGeom>
          <a:solidFill>
            <a:srgbClr val="DBEAFE"/>
          </a:solidFill>
          <a:ln>
            <a:solidFill>
              <a:srgbClr val="DBEAFE"/>
            </a:solidFill>
          </a:ln>
        </p:spPr>
        <p:txBody>
          <a:bodyPr wrap="square" lIns="381" tIns="381" rIns="381" bIns="381" rtlCol="0" anchor="ctr">
            <a:normAutofit/>
          </a:bodyPr>
          <a:lstStyle/>
          <a:p>
            <a:pPr marL="0" indent="0" algn="ctr">
              <a:buNone/>
            </a:pPr>
            <a:r>
              <a:rPr lang="en-US" sz="1050" b="1" dirty="0">
                <a:solidFill>
                  <a:srgbClr val="0F172A"/>
                </a:solidFill>
              </a:rPr>
              <a:t>Limits</a:t>
            </a:r>
            <a:endParaRPr lang="en-US" sz="1050" dirty="0"/>
          </a:p>
        </p:txBody>
      </p:sp>
      <p:sp>
        <p:nvSpPr>
          <p:cNvPr id="13" name="Text 11"/>
          <p:cNvSpPr/>
          <p:nvPr/>
        </p:nvSpPr>
        <p:spPr>
          <a:xfrm>
            <a:off x="10835640" y="1554480"/>
            <a:ext cx="1280160" cy="384048"/>
          </a:xfrm>
          <a:prstGeom prst="roundRect">
            <a:avLst/>
          </a:prstGeom>
          <a:solidFill>
            <a:srgbClr val="DCFCE7"/>
          </a:solidFill>
          <a:ln>
            <a:solidFill>
              <a:srgbClr val="DCFCE7"/>
            </a:solidFill>
          </a:ln>
        </p:spPr>
        <p:txBody>
          <a:bodyPr wrap="square" lIns="381" tIns="381" rIns="381" bIns="381" rtlCol="0" anchor="ctr">
            <a:normAutofit/>
          </a:bodyPr>
          <a:lstStyle/>
          <a:p>
            <a:pPr marL="0" indent="0" algn="ctr">
              <a:buNone/>
            </a:pPr>
            <a:r>
              <a:rPr lang="en-US" sz="1050" b="1" dirty="0">
                <a:solidFill>
                  <a:srgbClr val="0F172A"/>
                </a:solidFill>
              </a:rPr>
              <a:t>Contribution</a:t>
            </a:r>
            <a:endParaRPr lang="en-US" sz="1050" dirty="0"/>
          </a:p>
        </p:txBody>
      </p:sp>
      <p:sp>
        <p:nvSpPr>
          <p:cNvPr id="14" name="Text 12"/>
          <p:cNvSpPr/>
          <p:nvPr/>
        </p:nvSpPr>
        <p:spPr>
          <a:xfrm>
            <a:off x="822960" y="2743200"/>
            <a:ext cx="530352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Be ready to answer</a:t>
            </a:r>
            <a:endParaRPr lang="en-US" sz="1450" dirty="0"/>
          </a:p>
        </p:txBody>
      </p:sp>
      <p:sp>
        <p:nvSpPr>
          <p:cNvPr id="15" name="Text 13"/>
          <p:cNvSpPr/>
          <p:nvPr/>
        </p:nvSpPr>
        <p:spPr>
          <a:xfrm>
            <a:off x="822960" y="3182111"/>
            <a:ext cx="5303520" cy="3026659"/>
          </a:xfrm>
          <a:prstGeom prst="roundRect">
            <a:avLst/>
          </a:prstGeom>
          <a:solidFill>
            <a:srgbClr val="FFFFFF">
              <a:alpha val="0"/>
            </a:srgbClr>
          </a:solidFill>
          <a:ln>
            <a:solidFill>
              <a:srgbClr val="FFFFFF">
                <a:alpha val="0"/>
              </a:srgbClr>
            </a:solidFill>
          </a:ln>
        </p:spPr>
        <p:txBody>
          <a:bodyPr wrap="square" rtlCol="0" anchor="t">
            <a:noAutofit/>
          </a:bodyPr>
          <a:lstStyle/>
          <a:p>
            <a:pPr marL="0" indent="0">
              <a:buNone/>
            </a:pPr>
            <a:r>
              <a:rPr lang="en-US" sz="1400" dirty="0">
                <a:solidFill>
                  <a:srgbClr val="475569"/>
                </a:solidFill>
              </a:rPr>
              <a:t>What is your target variable?</a:t>
            </a:r>
          </a:p>
          <a:p>
            <a:pPr marL="0" indent="0">
              <a:buNone/>
            </a:pPr>
            <a:endParaRPr lang="en-US" sz="1400" dirty="0"/>
          </a:p>
          <a:p>
            <a:pPr marL="0" indent="0">
              <a:buNone/>
            </a:pPr>
            <a:r>
              <a:rPr lang="en-US" sz="1400" dirty="0">
                <a:solidFill>
                  <a:srgbClr val="475569"/>
                </a:solidFill>
              </a:rPr>
              <a:t>Why is this an ML project?</a:t>
            </a:r>
          </a:p>
          <a:p>
            <a:pPr marL="0" indent="0">
              <a:buNone/>
            </a:pPr>
            <a:endParaRPr lang="en-US" sz="1400" dirty="0"/>
          </a:p>
          <a:p>
            <a:pPr marL="0" indent="0">
              <a:buNone/>
            </a:pPr>
            <a:r>
              <a:rPr lang="en-US" sz="1400" dirty="0">
                <a:solidFill>
                  <a:srgbClr val="475569"/>
                </a:solidFill>
              </a:rPr>
              <a:t>How did you avoid data leakage?</a:t>
            </a:r>
          </a:p>
          <a:p>
            <a:pPr marL="0" indent="0">
              <a:buNone/>
            </a:pPr>
            <a:endParaRPr lang="en-US" sz="1400" dirty="0"/>
          </a:p>
          <a:p>
            <a:pPr marL="0" indent="0">
              <a:buNone/>
            </a:pPr>
            <a:r>
              <a:rPr lang="en-US" sz="1400" dirty="0">
                <a:solidFill>
                  <a:srgbClr val="475569"/>
                </a:solidFill>
              </a:rPr>
              <a:t>Why did you choose your model?</a:t>
            </a:r>
          </a:p>
          <a:p>
            <a:pPr marL="0" indent="0">
              <a:buNone/>
            </a:pPr>
            <a:endParaRPr lang="en-US" sz="1400" dirty="0"/>
          </a:p>
          <a:p>
            <a:pPr marL="0" indent="0">
              <a:buNone/>
            </a:pPr>
            <a:r>
              <a:rPr lang="en-US" sz="1400" dirty="0">
                <a:solidFill>
                  <a:srgbClr val="475569"/>
                </a:solidFill>
              </a:rPr>
              <a:t>What baseline did you use?</a:t>
            </a:r>
          </a:p>
          <a:p>
            <a:pPr marL="0" indent="0">
              <a:buNone/>
            </a:pPr>
            <a:endParaRPr lang="en-US" sz="1400" dirty="0"/>
          </a:p>
          <a:p>
            <a:pPr marL="0" indent="0">
              <a:buNone/>
            </a:pPr>
            <a:r>
              <a:rPr lang="en-US" sz="1400" dirty="0">
                <a:solidFill>
                  <a:srgbClr val="475569"/>
                </a:solidFill>
              </a:rPr>
              <a:t>What metrics did you use and why?</a:t>
            </a:r>
          </a:p>
          <a:p>
            <a:pPr marL="0" indent="0">
              <a:buNone/>
            </a:pPr>
            <a:endParaRPr lang="en-US" sz="1400" dirty="0"/>
          </a:p>
          <a:p>
            <a:pPr marL="0" indent="0">
              <a:buNone/>
            </a:pPr>
            <a:r>
              <a:rPr lang="en-US" sz="1400" dirty="0">
                <a:solidFill>
                  <a:srgbClr val="475569"/>
                </a:solidFill>
              </a:rPr>
              <a:t>What are your limitations?</a:t>
            </a:r>
            <a:endParaRPr lang="en-US" sz="1400" dirty="0"/>
          </a:p>
        </p:txBody>
      </p:sp>
      <p:sp>
        <p:nvSpPr>
          <p:cNvPr id="16" name="Shape 14"/>
          <p:cNvSpPr/>
          <p:nvPr/>
        </p:nvSpPr>
        <p:spPr>
          <a:xfrm>
            <a:off x="841248" y="3127248"/>
            <a:ext cx="5266944" cy="0"/>
          </a:xfrm>
          <a:prstGeom prst="line">
            <a:avLst/>
          </a:prstGeom>
          <a:noFill/>
          <a:ln w="27940">
            <a:solidFill>
              <a:srgbClr val="2563EB"/>
            </a:solidFill>
            <a:prstDash val="solid"/>
          </a:ln>
        </p:spPr>
        <p:txBody>
          <a:bodyPr/>
          <a:lstStyle/>
          <a:p>
            <a:endParaRPr lang="en-US"/>
          </a:p>
        </p:txBody>
      </p:sp>
      <p:sp>
        <p:nvSpPr>
          <p:cNvPr id="17" name="Text 15"/>
          <p:cNvSpPr/>
          <p:nvPr/>
        </p:nvSpPr>
        <p:spPr>
          <a:xfrm>
            <a:off x="6537960" y="2743200"/>
            <a:ext cx="4937760" cy="384048"/>
          </a:xfrm>
          <a:prstGeom prst="roundRect">
            <a:avLst/>
          </a:prstGeom>
          <a:solidFill>
            <a:srgbClr val="FFFFFF"/>
          </a:solidFill>
          <a:ln w="9525">
            <a:solidFill>
              <a:srgbClr val="CBD5E1"/>
            </a:solidFill>
          </a:ln>
        </p:spPr>
        <p:txBody>
          <a:bodyPr wrap="square" rtlCol="0" anchor="ctr">
            <a:normAutofit/>
          </a:bodyPr>
          <a:lstStyle/>
          <a:p>
            <a:pPr marL="0" indent="0">
              <a:buNone/>
            </a:pPr>
            <a:r>
              <a:rPr lang="en-US" sz="1450" b="1" dirty="0">
                <a:solidFill>
                  <a:srgbClr val="0F172A"/>
                </a:solidFill>
              </a:rPr>
              <a:t>Final message</a:t>
            </a:r>
            <a:endParaRPr lang="en-US" sz="1450" dirty="0"/>
          </a:p>
        </p:txBody>
      </p:sp>
      <p:sp>
        <p:nvSpPr>
          <p:cNvPr id="18" name="Text 16"/>
          <p:cNvSpPr/>
          <p:nvPr/>
        </p:nvSpPr>
        <p:spPr>
          <a:xfrm>
            <a:off x="6537960" y="3182112"/>
            <a:ext cx="4937760" cy="2304288"/>
          </a:xfrm>
          <a:prstGeom prst="roundRect">
            <a:avLst/>
          </a:prstGeom>
          <a:solidFill>
            <a:srgbClr val="FFFFFF">
              <a:alpha val="0"/>
            </a:srgbClr>
          </a:solidFill>
          <a:ln>
            <a:solidFill>
              <a:srgbClr val="FFFFFF">
                <a:alpha val="0"/>
              </a:srgbClr>
            </a:solidFill>
          </a:ln>
        </p:spPr>
        <p:txBody>
          <a:bodyPr wrap="square" rtlCol="0" anchor="t">
            <a:normAutofit/>
          </a:bodyPr>
          <a:lstStyle/>
          <a:p>
            <a:pPr marL="0" indent="0">
              <a:buNone/>
            </a:pPr>
            <a:r>
              <a:rPr lang="en-US" sz="1400" dirty="0">
                <a:solidFill>
                  <a:srgbClr val="475569"/>
                </a:solidFill>
              </a:rPr>
              <a:t>Do not defend your project by saying it solves everything. Defend it by showing that the problem is focused, the data is clear, the ML method is appropriate, the evaluation is honest, and the limitations are understood.</a:t>
            </a:r>
            <a:endParaRPr lang="en-US" sz="1400" dirty="0"/>
          </a:p>
        </p:txBody>
      </p:sp>
      <p:sp>
        <p:nvSpPr>
          <p:cNvPr id="19" name="Shape 17"/>
          <p:cNvSpPr/>
          <p:nvPr/>
        </p:nvSpPr>
        <p:spPr>
          <a:xfrm>
            <a:off x="6556248" y="3127248"/>
            <a:ext cx="4901184" cy="0"/>
          </a:xfrm>
          <a:prstGeom prst="line">
            <a:avLst/>
          </a:prstGeom>
          <a:noFill/>
          <a:ln w="27940">
            <a:solidFill>
              <a:srgbClr val="16A34A"/>
            </a:solidFill>
            <a:prstDash val="solid"/>
          </a:ln>
        </p:spPr>
        <p:txBody>
          <a:bodyPr/>
          <a:lstStyle/>
          <a:p>
            <a:endParaRPr lang="en-US"/>
          </a:p>
        </p:txBody>
      </p:sp>
      <p:sp>
        <p:nvSpPr>
          <p:cNvPr id="20" name="Text 18"/>
          <p:cNvSpPr/>
          <p:nvPr/>
        </p:nvSpPr>
        <p:spPr>
          <a:xfrm>
            <a:off x="548640" y="6565392"/>
            <a:ext cx="3657600" cy="146304"/>
          </a:xfrm>
          <a:prstGeom prst="rect">
            <a:avLst/>
          </a:prstGeom>
          <a:noFill/>
          <a:ln/>
        </p:spPr>
        <p:txBody>
          <a:bodyPr wrap="square" lIns="0" tIns="0" rIns="0" bIns="0" rtlCol="0" anchor="ctr"/>
          <a:lstStyle/>
          <a:p>
            <a:pPr marL="0" indent="0">
              <a:buNone/>
            </a:pPr>
            <a:r>
              <a:rPr lang="en-US" sz="750" dirty="0">
                <a:solidFill>
                  <a:srgbClr val="94A3B8"/>
                </a:solidFill>
              </a:rPr>
              <a:t>ML Capstone Report Guide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1635</Words>
  <Application>Microsoft Office PowerPoint</Application>
  <PresentationFormat>Widescreen</PresentationFormat>
  <Paragraphs>408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and Defending a Strong ML Capstone Report</dc:title>
  <dc:subject>ML Capstone Report and Defense Guide</dc:subject>
  <dc:creator>Dunee Roland</dc:creator>
  <cp:lastModifiedBy>Dunee Roland</cp:lastModifiedBy>
  <cp:revision>3</cp:revision>
  <dcterms:created xsi:type="dcterms:W3CDTF">2026-07-10T10:49:44Z</dcterms:created>
  <dcterms:modified xsi:type="dcterms:W3CDTF">2026-07-10T11:56:14Z</dcterms:modified>
</cp:coreProperties>
</file>